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embeddedFontLst>
    <p:embeddedFont>
      <p:font typeface="Exo 2" pitchFamily="34" charset="0"/>
      <p:regular r:id="rId18"/>
      <p:bold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C0D0F"/>
        </a:solidFill>
      </p:bgPr>
    </p:bg>
    <p:spTree>
      <p:nvGrpSpPr>
        <p:cNvPr id="1" name=""/>
        <p:cNvGrpSpPr/>
        <p:nvPr/>
      </p:nvGrpSpPr>
      <p:grpSpPr>
        <a:xfrm>
          <a:off x="0" y="0"/>
          <a:ext cx="0" cy="0"/>
          <a:chOff x="0" y="0"/>
          <a:chExt cx="0" cy="0"/>
        </a:xfrm>
      </p:grpSpPr>
      <p:sp>
        <p:nvSpPr>
          <p:cNvPr id="2" name="Title Placeholder 1"/>
          <p:cNvSpPr/>
          <p:nvPr>
            <p:ph type="title"/>
          </p:nvPr>
        </p:nvSpPr>
        <p:spPr>
          <a:xfrm>
            <a:off x="711200" y="924561"/>
            <a:ext cx="6146800" cy="576024"/>
          </a:xfrm>
          <a:prstGeom prst="rect">
            <a:avLst/>
          </a:prstGeom>
          <a:noFill/>
          <a:ln/>
        </p:spPr>
        <p:txBody>
          <a:bodyPr wrap="square" lIns="0" tIns="0" rIns="0" bIns="0" rtlCol="0" anchor="t"/>
          <a:lstStyle>
            <a:lvl1pPr algn="l" indent="0" marL="0">
              <a:lnSpc>
                <a:spcPct val="115000"/>
              </a:lnSpc>
              <a:buNone/>
              <a:defRPr lang="en-US" sz="3800" dirty="0">
                <a:solidFill>
                  <a:srgbClr val="F2EDE1"/>
                </a:solidFill>
                <a:latin typeface="Russo One" pitchFamily="34" charset="0"/>
                <a:ea typeface="Russo One" pitchFamily="34" charset="-122"/>
                <a:cs typeface="Russo One" pitchFamily="34" charset="-120"/>
              </a:defRPr>
            </a:lvl1pPr>
          </a:lstStyle>
          <a:p>
            <a:pPr algn="l" indent="0" marL="0">
              <a:lnSpc>
                <a:spcPct val="115000"/>
              </a:lnSpc>
              <a:buNone/>
            </a:pPr>
            <a:endParaRPr lang="en-US" sz="3800" dirty="0"/>
          </a:p>
        </p:txBody>
      </p:sp>
      <p:sp>
        <p:nvSpPr>
          <p:cNvPr id="3" name="Text Placeholder 2"/>
          <p:cNvSpPr/>
          <p:nvPr>
            <p:ph idx="101" type="body"/>
          </p:nvPr>
        </p:nvSpPr>
        <p:spPr>
          <a:xfrm>
            <a:off x="711200" y="1805385"/>
            <a:ext cx="10668000" cy="4239815"/>
          </a:xfrm>
          <a:prstGeom prst="rect">
            <a:avLst/>
          </a:prstGeom>
          <a:noFill/>
          <a:ln/>
        </p:spPr>
        <p:txBody>
          <a:bodyPr wrap="square" lIns="0" tIns="0" rIns="0" bIns="0" rtlCol="0" anchor="t"/>
          <a:lstStyle>
            <a:lvl1pPr algn="l" indent="0" marL="0">
              <a:lnSpc>
                <a:spcPct val="140000"/>
              </a:lnSpc>
              <a:buNone/>
              <a:defRPr lang="en-US" sz="1600" dirty="0">
                <a:solidFill>
                  <a:srgbClr val="FAF9F5"/>
                </a:solidFill>
                <a:latin typeface="Exo 2" pitchFamily="34" charset="0"/>
                <a:ea typeface="Exo 2" pitchFamily="34" charset="-122"/>
                <a:cs typeface="Exo 2"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C0D0F"/>
        </a:solidFill>
      </p:bgPr>
    </p:bg>
    <p:spTree>
      <p:nvGrpSpPr>
        <p:cNvPr id="1" name=""/>
        <p:cNvGrpSpPr/>
        <p:nvPr/>
      </p:nvGrpSpPr>
      <p:grpSpPr>
        <a:xfrm>
          <a:off x="0" y="0"/>
          <a:ext cx="0" cy="0"/>
          <a:chOff x="0" y="0"/>
          <a:chExt cx="0" cy="0"/>
        </a:xfrm>
      </p:grpSpPr>
      <p:sp>
        <p:nvSpPr>
          <p:cNvPr id="2" name="Title Placeholder 1"/>
          <p:cNvSpPr/>
          <p:nvPr>
            <p:ph type="title"/>
          </p:nvPr>
        </p:nvSpPr>
        <p:spPr>
          <a:xfrm>
            <a:off x="711200" y="924561"/>
            <a:ext cx="6146800" cy="576024"/>
          </a:xfrm>
          <a:prstGeom prst="rect">
            <a:avLst/>
          </a:prstGeom>
          <a:noFill/>
          <a:ln/>
        </p:spPr>
        <p:txBody>
          <a:bodyPr wrap="square" lIns="0" tIns="0" rIns="0" bIns="0" rtlCol="0" anchor="t"/>
          <a:lstStyle>
            <a:lvl1pPr algn="l" indent="0" marL="0">
              <a:lnSpc>
                <a:spcPct val="115000"/>
              </a:lnSpc>
              <a:buNone/>
              <a:defRPr lang="en-US" sz="3800" dirty="0">
                <a:solidFill>
                  <a:srgbClr val="F2EDE1"/>
                </a:solidFill>
                <a:latin typeface="Russo One" pitchFamily="34" charset="0"/>
                <a:ea typeface="Russo One" pitchFamily="34" charset="-122"/>
                <a:cs typeface="Russo One" pitchFamily="34" charset="-120"/>
              </a:defRPr>
            </a:lvl1pPr>
          </a:lstStyle>
          <a:p>
            <a:pPr algn="l" indent="0" marL="0">
              <a:lnSpc>
                <a:spcPct val="115000"/>
              </a:lnSpc>
              <a:buNone/>
            </a:pPr>
            <a:endParaRPr lang="en-US" sz="3800" dirty="0"/>
          </a:p>
        </p:txBody>
      </p:sp>
      <p:sp>
        <p:nvSpPr>
          <p:cNvPr id="3" name="Text Placeholder 2"/>
          <p:cNvSpPr/>
          <p:nvPr>
            <p:ph idx="101" type="body"/>
          </p:nvPr>
        </p:nvSpPr>
        <p:spPr>
          <a:xfrm>
            <a:off x="711200" y="1805385"/>
            <a:ext cx="10668000" cy="4239815"/>
          </a:xfrm>
          <a:prstGeom prst="rect">
            <a:avLst/>
          </a:prstGeom>
          <a:noFill/>
          <a:ln/>
        </p:spPr>
        <p:txBody>
          <a:bodyPr wrap="square" lIns="0" tIns="0" rIns="0" bIns="0" rtlCol="0" anchor="t"/>
          <a:lstStyle>
            <a:lvl1pPr algn="l" indent="0" marL="0">
              <a:lnSpc>
                <a:spcPct val="140000"/>
              </a:lnSpc>
              <a:buNone/>
              <a:defRPr lang="en-US" sz="1600" dirty="0">
                <a:solidFill>
                  <a:srgbClr val="FAF9F5"/>
                </a:solidFill>
                <a:latin typeface="Exo 2" pitchFamily="34" charset="0"/>
                <a:ea typeface="Exo 2" pitchFamily="34" charset="-122"/>
                <a:cs typeface="Exo 2"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jpe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eg"/><Relationship Id="rId3" Type="http://schemas.openxmlformats.org/officeDocument/2006/relationships/image" Target="../media/image-3-3.jpeg"/><Relationship Id="rId4" Type="http://schemas.openxmlformats.org/officeDocument/2006/relationships/image" Target="../media/image-3-4.jpe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eg"/><Relationship Id="rId3" Type="http://schemas.openxmlformats.org/officeDocument/2006/relationships/image" Target="../media/image-4-3.jpeg"/><Relationship Id="rId4" Type="http://schemas.openxmlformats.org/officeDocument/2006/relationships/image" Target="../media/image-4-4.jpe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hyperlink" Target="https://vkvideo.ru/video-39266843_456241114" TargetMode="External"/><Relationship Id="rId1" Type="http://schemas.openxmlformats.org/officeDocument/2006/relationships/image" Target="../media/image-5-1.png"/><Relationship Id="rId3" Type="http://schemas.openxmlformats.org/officeDocument/2006/relationships/image" Target="../media/image-5-2.jpe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disk.yandex.ru/i/Gd9JOhB2C0nVcQ" TargetMode="External"/><Relationship Id="rId1" Type="http://schemas.openxmlformats.org/officeDocument/2006/relationships/image" Target="../media/image-6-1.png"/><Relationship Id="rId3" Type="http://schemas.openxmlformats.org/officeDocument/2006/relationships/image" Target="../media/image-6-2.jpe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jpeg"/><Relationship Id="rId3" Type="http://schemas.openxmlformats.org/officeDocument/2006/relationships/image" Target="../media/image-7-3.jpe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jpeg"/><Relationship Id="rId3" Type="http://schemas.openxmlformats.org/officeDocument/2006/relationships/image" Target="../media/image-8-3.jpe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jpe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jpeg"/><Relationship Id="rId3" Type="http://schemas.openxmlformats.org/officeDocument/2006/relationships/image" Target="../media/image-10-3.jpeg"/><Relationship Id="rId4" Type="http://schemas.openxmlformats.org/officeDocument/2006/relationships/image" Target="../media/image-10-4.jpe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jpeg"/><Relationship Id="rId3" Type="http://schemas.openxmlformats.org/officeDocument/2006/relationships/image" Target="../media/image-11-3.jpeg"/><Relationship Id="rId4" Type="http://schemas.openxmlformats.org/officeDocument/2006/relationships/image" Target="../media/image-11-4.jpe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D0F"/>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711200" y="1079500"/>
            <a:ext cx="5624830" cy="238760"/>
          </a:xfrm>
          <a:prstGeom prst="rect">
            <a:avLst/>
          </a:prstGeom>
          <a:noFill/>
          <a:ln/>
        </p:spPr>
        <p:txBody>
          <a:bodyPr wrap="square" lIns="0" tIns="0" rIns="0" bIns="0" rtlCol="0" anchor="t">
            <a:normAutofit/>
          </a:bodyPr>
          <a:lstStyle/>
          <a:p>
            <a:pPr algn="l" indent="0" marL="0">
              <a:lnSpc>
                <a:spcPts val="1680"/>
              </a:lnSpc>
              <a:buNone/>
            </a:pPr>
            <a:r>
              <a:rPr lang="en-US" sz="1200" b="1" spc="265" kern="0" dirty="0">
                <a:solidFill>
                  <a:srgbClr val="FFB020"/>
                </a:solidFill>
                <a:latin typeface="Exo 2" pitchFamily="34" charset="0"/>
                <a:ea typeface="Exo 2" pitchFamily="34" charset="-122"/>
                <a:cs typeface="Exo 2" pitchFamily="34" charset="-120"/>
              </a:rPr>
              <a:t>XXIX ОБЛАСТНАЯ ОБЩЕСТВЕННАЯ АКЦИЯ</a:t>
            </a:r>
            <a:endParaRPr lang="en-US" sz="1200" dirty="0"/>
          </a:p>
        </p:txBody>
      </p:sp>
      <p:sp>
        <p:nvSpPr>
          <p:cNvPr id="4" name="Text 1"/>
          <p:cNvSpPr/>
          <p:nvPr>
            <p:ph type="title"/>
          </p:nvPr>
        </p:nvSpPr>
        <p:spPr>
          <a:xfrm>
            <a:off x="711200" y="1419860"/>
            <a:ext cx="5624830" cy="758825"/>
          </a:xfrm>
          <a:prstGeom prst="rect">
            <a:avLst/>
          </a:prstGeom>
          <a:noFill/>
          <a:ln/>
        </p:spPr>
        <p:txBody>
          <a:bodyPr wrap="square" lIns="0" tIns="0" rIns="0" bIns="0" rtlCol="0" anchor="t">
            <a:normAutofit/>
          </a:bodyPr>
          <a:lstStyle/>
          <a:p>
            <a:pPr algn="l" indent="0" marL="0">
              <a:lnSpc>
                <a:spcPts val="5775"/>
              </a:lnSpc>
              <a:buNone/>
            </a:pPr>
            <a:r>
              <a:rPr lang="en-US" sz="5500" b="0" i="0" dirty="0">
                <a:solidFill>
                  <a:srgbClr val="F2EDE1"/>
                </a:solidFill>
                <a:latin typeface="Russo One" pitchFamily="34" charset="0"/>
                <a:ea typeface="Russo One" pitchFamily="34" charset="-122"/>
                <a:cs typeface="Russo One" pitchFamily="34" charset="-120"/>
              </a:rPr>
              <a:t>Благородство</a:t>
            </a:r>
            <a:endParaRPr lang="en-US" sz="5500" dirty="0"/>
          </a:p>
        </p:txBody>
      </p:sp>
      <p:sp>
        <p:nvSpPr>
          <p:cNvPr id="5" name="Text 2"/>
          <p:cNvSpPr/>
          <p:nvPr/>
        </p:nvSpPr>
        <p:spPr>
          <a:xfrm>
            <a:off x="711200" y="2280285"/>
            <a:ext cx="5624830" cy="556260"/>
          </a:xfrm>
          <a:prstGeom prst="rect">
            <a:avLst/>
          </a:prstGeom>
          <a:noFill/>
          <a:ln/>
        </p:spPr>
        <p:txBody>
          <a:bodyPr wrap="square" lIns="0" tIns="0" rIns="0" bIns="0" rtlCol="0" anchor="t">
            <a:normAutofit/>
          </a:bodyPr>
          <a:lstStyle/>
          <a:p>
            <a:pPr algn="l" indent="0" marL="0">
              <a:lnSpc>
                <a:spcPts val="4180"/>
              </a:lnSpc>
              <a:buNone/>
            </a:pPr>
            <a:r>
              <a:rPr lang="en-US" sz="3800" b="1" dirty="0">
                <a:solidFill>
                  <a:srgbClr val="F2EDE1"/>
                </a:solidFill>
                <a:latin typeface="Exo 2" pitchFamily="34" charset="0"/>
                <a:ea typeface="Exo 2" pitchFamily="34" charset="-122"/>
                <a:cs typeface="Exo 2" pitchFamily="34" charset="-120"/>
              </a:rPr>
              <a:t>Александр Чикин</a:t>
            </a:r>
            <a:endParaRPr lang="en-US" sz="3800" dirty="0"/>
          </a:p>
        </p:txBody>
      </p:sp>
      <p:sp>
        <p:nvSpPr>
          <p:cNvPr id="6" name="Text 3"/>
          <p:cNvSpPr/>
          <p:nvPr/>
        </p:nvSpPr>
        <p:spPr>
          <a:xfrm>
            <a:off x="711200" y="2938145"/>
            <a:ext cx="5101590"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FCABD"/>
                </a:solidFill>
                <a:latin typeface="Exo 2" pitchFamily="34" charset="0"/>
                <a:ea typeface="Exo 2" pitchFamily="34" charset="-122"/>
                <a:cs typeface="Exo 2" pitchFamily="34" charset="-120"/>
              </a:rPr>
              <a:t>Волонтёр СВО, один из организаторов и лидеров сообщества «Самара для фронта»</a:t>
            </a:r>
            <a:endParaRPr lang="en-US" sz="1700" dirty="0"/>
          </a:p>
        </p:txBody>
      </p:sp>
      <p:sp>
        <p:nvSpPr>
          <p:cNvPr id="7" name="Text 4"/>
          <p:cNvSpPr/>
          <p:nvPr/>
        </p:nvSpPr>
        <p:spPr>
          <a:xfrm>
            <a:off x="711200" y="4127500"/>
            <a:ext cx="5624830" cy="238760"/>
          </a:xfrm>
          <a:prstGeom prst="rect">
            <a:avLst/>
          </a:prstGeom>
          <a:noFill/>
          <a:ln/>
        </p:spPr>
        <p:txBody>
          <a:bodyPr wrap="square" lIns="0" tIns="0" rIns="0" bIns="0" rtlCol="0" anchor="t">
            <a:normAutofit/>
          </a:bodyPr>
          <a:lstStyle/>
          <a:p>
            <a:pPr algn="l" indent="0" marL="0">
              <a:lnSpc>
                <a:spcPts val="1680"/>
              </a:lnSpc>
              <a:buNone/>
            </a:pPr>
            <a:r>
              <a:rPr lang="en-US" sz="1200" b="1" spc="240" kern="0" dirty="0">
                <a:solidFill>
                  <a:srgbClr val="FFB020"/>
                </a:solidFill>
                <a:latin typeface="Exo 2" pitchFamily="34" charset="0"/>
                <a:ea typeface="Exo 2" pitchFamily="34" charset="-122"/>
                <a:cs typeface="Exo 2" pitchFamily="34" charset="-120"/>
              </a:rPr>
              <a:t>ПРОЙДЕНО ПО ДОРОГАМ ЗОНЫ СВО</a:t>
            </a:r>
            <a:endParaRPr lang="en-US" sz="1200" dirty="0"/>
          </a:p>
        </p:txBody>
      </p:sp>
      <p:sp>
        <p:nvSpPr>
          <p:cNvPr id="8" name="Shape 5"/>
          <p:cNvSpPr/>
          <p:nvPr/>
        </p:nvSpPr>
        <p:spPr>
          <a:xfrm>
            <a:off x="711200" y="4442460"/>
            <a:ext cx="3987800" cy="927100"/>
          </a:xfrm>
          <a:prstGeom prst="roundRect">
            <a:avLst>
              <a:gd name="adj" fmla="val 10959"/>
            </a:avLst>
          </a:prstGeom>
          <a:gradFill rotWithShape="1">
            <a:gsLst>
              <a:gs pos="0">
                <a:srgbClr val="4A4B50"/>
              </a:gs>
              <a:gs pos="100000">
                <a:srgbClr val="1D1E21"/>
              </a:gs>
            </a:gsLst>
            <a:lin ang="5400000" scaled="0"/>
          </a:gradFill>
          <a:ln/>
        </p:spPr>
      </p:sp>
      <p:sp>
        <p:nvSpPr>
          <p:cNvPr id="9" name="Text 6"/>
          <p:cNvSpPr/>
          <p:nvPr/>
        </p:nvSpPr>
        <p:spPr>
          <a:xfrm>
            <a:off x="774700" y="4505960"/>
            <a:ext cx="571500" cy="800100"/>
          </a:xfrm>
          <a:prstGeom prst="roundRect">
            <a:avLst>
              <a:gd name="adj" fmla="val 10000"/>
            </a:avLst>
          </a:pr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5000"/>
              </a:lnSpc>
              <a:buNone/>
            </a:pPr>
            <a:r>
              <a:rPr lang="en-US" sz="5000" dirty="0">
                <a:solidFill>
                  <a:srgbClr val="F2EDE1"/>
                </a:solidFill>
                <a:latin typeface="Russo One" pitchFamily="34" charset="0"/>
                <a:ea typeface="Russo One" pitchFamily="34" charset="-122"/>
                <a:cs typeface="Russo One" pitchFamily="34" charset="-120"/>
              </a:rPr>
              <a:t>1</a:t>
            </a:r>
            <a:endParaRPr lang="en-US" sz="5000" dirty="0"/>
          </a:p>
        </p:txBody>
      </p:sp>
      <p:sp>
        <p:nvSpPr>
          <p:cNvPr id="10" name="Text 7"/>
          <p:cNvSpPr/>
          <p:nvPr/>
        </p:nvSpPr>
        <p:spPr>
          <a:xfrm>
            <a:off x="1397000" y="4505960"/>
            <a:ext cx="571500" cy="800100"/>
          </a:xfrm>
          <a:prstGeom prst="roundRect">
            <a:avLst>
              <a:gd name="adj" fmla="val 10000"/>
            </a:avLst>
          </a:pr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5000"/>
              </a:lnSpc>
              <a:buNone/>
            </a:pPr>
            <a:r>
              <a:rPr lang="en-US" sz="5000" dirty="0">
                <a:solidFill>
                  <a:srgbClr val="F2EDE1"/>
                </a:solidFill>
                <a:latin typeface="Russo One" pitchFamily="34" charset="0"/>
                <a:ea typeface="Russo One" pitchFamily="34" charset="-122"/>
                <a:cs typeface="Russo One" pitchFamily="34" charset="-120"/>
              </a:rPr>
              <a:t>7</a:t>
            </a:r>
            <a:endParaRPr lang="en-US" sz="5000" dirty="0"/>
          </a:p>
        </p:txBody>
      </p:sp>
      <p:sp>
        <p:nvSpPr>
          <p:cNvPr id="11" name="Text 8"/>
          <p:cNvSpPr/>
          <p:nvPr/>
        </p:nvSpPr>
        <p:spPr>
          <a:xfrm>
            <a:off x="2019300" y="4505960"/>
            <a:ext cx="571500" cy="800100"/>
          </a:xfrm>
          <a:prstGeom prst="roundRect">
            <a:avLst>
              <a:gd name="adj" fmla="val 10000"/>
            </a:avLst>
          </a:pr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5000"/>
              </a:lnSpc>
              <a:buNone/>
            </a:pPr>
            <a:r>
              <a:rPr lang="en-US" sz="5000" dirty="0">
                <a:solidFill>
                  <a:srgbClr val="F2EDE1"/>
                </a:solidFill>
                <a:latin typeface="Russo One" pitchFamily="34" charset="0"/>
                <a:ea typeface="Russo One" pitchFamily="34" charset="-122"/>
                <a:cs typeface="Russo One" pitchFamily="34" charset="-120"/>
              </a:rPr>
              <a:t>0</a:t>
            </a:r>
            <a:endParaRPr lang="en-US" sz="5000" dirty="0"/>
          </a:p>
        </p:txBody>
      </p:sp>
      <p:sp>
        <p:nvSpPr>
          <p:cNvPr id="12" name="Text 9"/>
          <p:cNvSpPr/>
          <p:nvPr/>
        </p:nvSpPr>
        <p:spPr>
          <a:xfrm>
            <a:off x="2819400" y="4505960"/>
            <a:ext cx="571500" cy="800100"/>
          </a:xfrm>
          <a:prstGeom prst="roundRect">
            <a:avLst>
              <a:gd name="adj" fmla="val 10000"/>
            </a:avLst>
          </a:pr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5000"/>
              </a:lnSpc>
              <a:buNone/>
            </a:pPr>
            <a:r>
              <a:rPr lang="en-US" sz="5000" dirty="0">
                <a:solidFill>
                  <a:srgbClr val="F2EDE1"/>
                </a:solidFill>
                <a:latin typeface="Russo One" pitchFamily="34" charset="0"/>
                <a:ea typeface="Russo One" pitchFamily="34" charset="-122"/>
                <a:cs typeface="Russo One" pitchFamily="34" charset="-120"/>
              </a:rPr>
              <a:t>0</a:t>
            </a:r>
            <a:endParaRPr lang="en-US" sz="5000" dirty="0"/>
          </a:p>
        </p:txBody>
      </p:sp>
      <p:sp>
        <p:nvSpPr>
          <p:cNvPr id="13" name="Text 10"/>
          <p:cNvSpPr/>
          <p:nvPr/>
        </p:nvSpPr>
        <p:spPr>
          <a:xfrm>
            <a:off x="3441700" y="4505960"/>
            <a:ext cx="571500" cy="800100"/>
          </a:xfrm>
          <a:prstGeom prst="roundRect">
            <a:avLst>
              <a:gd name="adj" fmla="val 10000"/>
            </a:avLst>
          </a:pr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5000"/>
              </a:lnSpc>
              <a:buNone/>
            </a:pPr>
            <a:r>
              <a:rPr lang="en-US" sz="5000" dirty="0">
                <a:solidFill>
                  <a:srgbClr val="F2EDE1"/>
                </a:solidFill>
                <a:latin typeface="Russo One" pitchFamily="34" charset="0"/>
                <a:ea typeface="Russo One" pitchFamily="34" charset="-122"/>
                <a:cs typeface="Russo One" pitchFamily="34" charset="-120"/>
              </a:rPr>
              <a:t>0</a:t>
            </a:r>
            <a:endParaRPr lang="en-US" sz="5000" dirty="0"/>
          </a:p>
        </p:txBody>
      </p:sp>
      <p:sp>
        <p:nvSpPr>
          <p:cNvPr id="14" name="Text 11"/>
          <p:cNvSpPr/>
          <p:nvPr/>
        </p:nvSpPr>
        <p:spPr>
          <a:xfrm>
            <a:off x="4064000" y="4505960"/>
            <a:ext cx="571500" cy="800100"/>
          </a:xfrm>
          <a:prstGeom prst="roundRect">
            <a:avLst>
              <a:gd name="adj" fmla="val 10000"/>
            </a:avLst>
          </a:pr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5000"/>
              </a:lnSpc>
              <a:buNone/>
            </a:pPr>
            <a:r>
              <a:rPr lang="en-US" sz="5000" dirty="0">
                <a:solidFill>
                  <a:srgbClr val="F2EDE1"/>
                </a:solidFill>
                <a:latin typeface="Russo One" pitchFamily="34" charset="0"/>
                <a:ea typeface="Russo One" pitchFamily="34" charset="-122"/>
                <a:cs typeface="Russo One" pitchFamily="34" charset="-120"/>
              </a:rPr>
              <a:t>0</a:t>
            </a:r>
            <a:endParaRPr lang="en-US" sz="5000" dirty="0"/>
          </a:p>
        </p:txBody>
      </p:sp>
      <p:sp>
        <p:nvSpPr>
          <p:cNvPr id="15" name="Text 12"/>
          <p:cNvSpPr/>
          <p:nvPr/>
        </p:nvSpPr>
        <p:spPr>
          <a:xfrm>
            <a:off x="4876800" y="4601210"/>
            <a:ext cx="1009555"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FFB020"/>
                </a:solidFill>
                <a:latin typeface="Russo One" pitchFamily="34" charset="0"/>
                <a:ea typeface="Russo One" pitchFamily="34" charset="-122"/>
                <a:cs typeface="Russo One" pitchFamily="34" charset="-120"/>
              </a:rPr>
              <a:t>км</a:t>
            </a:r>
            <a:endParaRPr lang="en-US" sz="4800" dirty="0"/>
          </a:p>
        </p:txBody>
      </p:sp>
      <p:pic>
        <p:nvPicPr>
          <p:cNvPr id="16" name="Image 1" descr="Циферблат: шкала с засечками">    </p:cNvPr>
          <p:cNvPicPr>
            <a:picLocks noChangeAspect="1"/>
          </p:cNvPicPr>
          <p:nvPr/>
        </p:nvPicPr>
        <p:blipFill>
          <a:blip r:embed="rId2"/>
          <a:srcRect l="0" r="0" t="0" b="0"/>
          <a:stretch/>
        </p:blipFill>
        <p:spPr>
          <a:xfrm>
            <a:off x="6286500" y="444500"/>
            <a:ext cx="4699000" cy="4699000"/>
          </a:xfrm>
          <a:prstGeom prst="rect">
            <a:avLst/>
          </a:prstGeom>
        </p:spPr>
      </p:pic>
      <p:pic>
        <p:nvPicPr>
          <p:cNvPr id="17" name="Image 2" descr="Александр Чикин, портрет">    </p:cNvPr>
          <p:cNvPicPr>
            <a:picLocks noChangeAspect="1"/>
          </p:cNvPicPr>
          <p:nvPr/>
        </p:nvPicPr>
        <p:blipFill>
          <a:blip r:embed="rId3"/>
          <a:srcRect l="0" r="0" t="0" b="0"/>
          <a:stretch/>
        </p:blipFill>
        <p:spPr>
          <a:xfrm>
            <a:off x="7112000" y="1270000"/>
            <a:ext cx="3048000" cy="3048000"/>
          </a:xfrm>
          <a:prstGeom prst="ellipse">
            <a:avLst/>
          </a:prstGeom>
        </p:spPr>
      </p:pic>
      <p:sp>
        <p:nvSpPr>
          <p:cNvPr id="18" name="Text 13"/>
          <p:cNvSpPr/>
          <p:nvPr/>
        </p:nvSpPr>
        <p:spPr>
          <a:xfrm>
            <a:off x="7452908" y="5270500"/>
            <a:ext cx="2366105" cy="238760"/>
          </a:xfrm>
          <a:prstGeom prst="rect">
            <a:avLst/>
          </a:prstGeom>
          <a:noFill/>
          <a:ln/>
        </p:spPr>
        <p:txBody>
          <a:bodyPr wrap="square" lIns="0" tIns="0" rIns="0" bIns="0" rtlCol="0" anchor="t">
            <a:normAutofit/>
          </a:bodyPr>
          <a:lstStyle/>
          <a:p>
            <a:pPr algn="ctr" indent="0" marL="0">
              <a:lnSpc>
                <a:spcPts val="1680"/>
              </a:lnSpc>
              <a:buNone/>
            </a:pPr>
            <a:r>
              <a:rPr lang="en-US" sz="1200" b="1" spc="240" kern="0" dirty="0">
                <a:solidFill>
                  <a:srgbClr val="FFB020"/>
                </a:solidFill>
                <a:latin typeface="Exo 2" pitchFamily="34" charset="0"/>
                <a:ea typeface="Exo 2" pitchFamily="34" charset="-122"/>
                <a:cs typeface="Exo 2" pitchFamily="34" charset="-120"/>
              </a:rPr>
              <a:t>ГРУЗА ДОСТАВЛЕНО</a:t>
            </a:r>
            <a:endParaRPr lang="en-US" sz="1200" dirty="0"/>
          </a:p>
        </p:txBody>
      </p:sp>
      <p:sp>
        <p:nvSpPr>
          <p:cNvPr id="19" name="Text 14"/>
          <p:cNvSpPr/>
          <p:nvPr/>
        </p:nvSpPr>
        <p:spPr>
          <a:xfrm>
            <a:off x="7450709" y="5521960"/>
            <a:ext cx="2370582" cy="444500"/>
          </a:xfrm>
          <a:prstGeom prst="rect">
            <a:avLst/>
          </a:prstGeom>
          <a:noFill/>
          <a:ln/>
        </p:spPr>
        <p:txBody>
          <a:bodyPr wrap="square" lIns="0" tIns="0" rIns="0" bIns="0" rtlCol="0" anchor="t">
            <a:normAutofit/>
          </a:bodyPr>
          <a:lstStyle/>
          <a:p>
            <a:pPr algn="ctr" indent="0" marL="0">
              <a:lnSpc>
                <a:spcPts val="3300"/>
              </a:lnSpc>
              <a:buNone/>
            </a:pPr>
            <a:r>
              <a:rPr lang="en-US" sz="3000" dirty="0">
                <a:solidFill>
                  <a:srgbClr val="F2EDE1"/>
                </a:solidFill>
                <a:latin typeface="Russo One" pitchFamily="34" charset="0"/>
                <a:ea typeface="Russo One" pitchFamily="34" charset="-122"/>
                <a:cs typeface="Russo One" pitchFamily="34" charset="-120"/>
              </a:rPr>
              <a:t>200+ тонн</a:t>
            </a:r>
            <a:endParaRPr lang="en-US" sz="3000" dirty="0"/>
          </a:p>
        </p:txBody>
      </p:sp>
      <p:sp>
        <p:nvSpPr>
          <p:cNvPr id="20" name="Text 15"/>
          <p:cNvSpPr/>
          <p:nvPr/>
        </p:nvSpPr>
        <p:spPr>
          <a:xfrm>
            <a:off x="6994081" y="5979160"/>
            <a:ext cx="3283839" cy="22352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A9A59A"/>
                </a:solidFill>
                <a:latin typeface="Exo 2" pitchFamily="34" charset="0"/>
                <a:ea typeface="Exo 2" pitchFamily="34" charset="-122"/>
                <a:cs typeface="Exo 2" pitchFamily="34" charset="-120"/>
              </a:rPr>
              <a:t>из них не менее 5 тонн медикаментов</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D0F"/>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711200" y="609600"/>
            <a:ext cx="5232400" cy="238760"/>
          </a:xfrm>
          <a:prstGeom prst="rect">
            <a:avLst/>
          </a:prstGeom>
          <a:noFill/>
          <a:ln/>
        </p:spPr>
        <p:txBody>
          <a:bodyPr wrap="square" lIns="0" tIns="0" rIns="0" bIns="0" rtlCol="0" anchor="t">
            <a:normAutofit/>
          </a:bodyPr>
          <a:lstStyle/>
          <a:p>
            <a:pPr algn="l" indent="0" marL="0">
              <a:lnSpc>
                <a:spcPts val="1680"/>
              </a:lnSpc>
              <a:buNone/>
            </a:pPr>
            <a:r>
              <a:rPr lang="en-US" sz="1200" b="1" spc="265" kern="0" dirty="0">
                <a:solidFill>
                  <a:srgbClr val="FFB020"/>
                </a:solidFill>
                <a:latin typeface="Exo 2" pitchFamily="34" charset="0"/>
                <a:ea typeface="Exo 2" pitchFamily="34" charset="-122"/>
                <a:cs typeface="Exo 2" pitchFamily="34" charset="-120"/>
              </a:rPr>
              <a:t>ХАРАКТЕР</a:t>
            </a:r>
            <a:endParaRPr lang="en-US" sz="1200" dirty="0"/>
          </a:p>
        </p:txBody>
      </p:sp>
      <p:sp>
        <p:nvSpPr>
          <p:cNvPr id="4" name="Text 1"/>
          <p:cNvSpPr/>
          <p:nvPr>
            <p:ph type="title"/>
          </p:nvPr>
        </p:nvSpPr>
        <p:spPr>
          <a:xfrm>
            <a:off x="711200" y="962660"/>
            <a:ext cx="5232400" cy="556260"/>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F2EDE1"/>
                </a:solidFill>
                <a:latin typeface="Russo One" pitchFamily="34" charset="0"/>
                <a:ea typeface="Russo One" pitchFamily="34" charset="-122"/>
                <a:cs typeface="Russo One" pitchFamily="34" charset="-120"/>
              </a:rPr>
              <a:t>Русский богатырь</a:t>
            </a:r>
            <a:endParaRPr lang="en-US" sz="3800" dirty="0"/>
          </a:p>
        </p:txBody>
      </p:sp>
      <p:sp>
        <p:nvSpPr>
          <p:cNvPr id="5" name="Text 2"/>
          <p:cNvSpPr/>
          <p:nvPr/>
        </p:nvSpPr>
        <p:spPr>
          <a:xfrm>
            <a:off x="711200" y="1633220"/>
            <a:ext cx="5232400" cy="2014220"/>
          </a:xfrm>
          <a:prstGeom prst="rect">
            <a:avLst/>
          </a:prstGeom>
          <a:noFill/>
          <a:ln/>
        </p:spPr>
        <p:txBody>
          <a:bodyPr wrap="square" lIns="0" tIns="0" rIns="0" bIns="0" rtlCol="0" anchor="t">
            <a:normAutofit/>
          </a:bodyPr>
          <a:lstStyle/>
          <a:p>
            <a:pPr algn="l" indent="0" marL="0">
              <a:lnSpc>
                <a:spcPts val="2610"/>
              </a:lnSpc>
              <a:buNone/>
            </a:pPr>
            <a:r>
              <a:rPr lang="en-US" sz="1800" dirty="0">
                <a:solidFill>
                  <a:srgbClr val="E6E0D2"/>
                </a:solidFill>
                <a:latin typeface="Exo 2" pitchFamily="34" charset="0"/>
                <a:ea typeface="Exo 2" pitchFamily="34" charset="-122"/>
                <a:cs typeface="Exo 2" pitchFamily="34" charset="-120"/>
              </a:rPr>
              <a:t>Наш русский богатырь, человек невероятной харизмы, с прекрасным чувством юмора, очень добрый, сильный, волевой, целеустремлённый, а самое главное его достоинство — он настоящий патриот своей страны.</a:t>
            </a:r>
            <a:endParaRPr lang="en-US" sz="1800" dirty="0"/>
          </a:p>
        </p:txBody>
      </p:sp>
      <p:sp>
        <p:nvSpPr>
          <p:cNvPr id="6" name="Shape 3"/>
          <p:cNvSpPr/>
          <p:nvPr/>
        </p:nvSpPr>
        <p:spPr>
          <a:xfrm>
            <a:off x="6356350" y="615950"/>
            <a:ext cx="5118100" cy="4878705"/>
          </a:xfrm>
          <a:prstGeom prst="roundRect">
            <a:avLst>
              <a:gd name="adj" fmla="val 2473"/>
            </a:avLst>
          </a:prstGeom>
          <a:solidFill>
            <a:srgbClr val="131417"/>
          </a:solidFill>
          <a:ln w="12700">
            <a:solidFill>
              <a:srgbClr val="2A2B30"/>
            </a:solidFill>
            <a:prstDash val="solid"/>
          </a:ln>
        </p:spPr>
      </p:sp>
      <p:sp>
        <p:nvSpPr>
          <p:cNvPr id="7" name="Text 4"/>
          <p:cNvSpPr/>
          <p:nvPr/>
        </p:nvSpPr>
        <p:spPr>
          <a:xfrm>
            <a:off x="6715760" y="949960"/>
            <a:ext cx="4531258" cy="238760"/>
          </a:xfrm>
          <a:prstGeom prst="rect">
            <a:avLst/>
          </a:prstGeom>
          <a:noFill/>
          <a:ln/>
        </p:spPr>
        <p:txBody>
          <a:bodyPr wrap="square" lIns="0" tIns="0" rIns="0" bIns="0" rtlCol="0" anchor="t">
            <a:normAutofit/>
          </a:bodyPr>
          <a:lstStyle/>
          <a:p>
            <a:pPr algn="l" indent="0" marL="0">
              <a:lnSpc>
                <a:spcPts val="1680"/>
              </a:lnSpc>
              <a:buNone/>
            </a:pPr>
            <a:r>
              <a:rPr lang="en-US" sz="1200" spc="145" kern="0" dirty="0">
                <a:solidFill>
                  <a:srgbClr val="FFB020"/>
                </a:solidFill>
                <a:latin typeface="IBM Plex Mono" pitchFamily="49" charset="0"/>
                <a:ea typeface="IBM Plex Mono" pitchFamily="49" charset="-122"/>
                <a:cs typeface="IBM Plex Mono" pitchFamily="49" charset="-120"/>
              </a:rPr>
              <a:t>ПАТРИОТИЗМ — ЭТО ДЕЙСТВИЯ</a:t>
            </a:r>
            <a:endParaRPr lang="en-US" sz="1200" dirty="0"/>
          </a:p>
        </p:txBody>
      </p:sp>
      <p:sp>
        <p:nvSpPr>
          <p:cNvPr id="8" name="Text 5"/>
          <p:cNvSpPr/>
          <p:nvPr/>
        </p:nvSpPr>
        <p:spPr>
          <a:xfrm>
            <a:off x="6715760" y="1328420"/>
            <a:ext cx="4531258" cy="1120775"/>
          </a:xfrm>
          <a:prstGeom prst="rect">
            <a:avLst/>
          </a:prstGeom>
          <a:noFill/>
          <a:ln/>
        </p:spPr>
        <p:txBody>
          <a:bodyPr wrap="square" lIns="0" tIns="0" rIns="0" bIns="0" rtlCol="0" anchor="t">
            <a:normAutofit/>
          </a:bodyPr>
          <a:lstStyle/>
          <a:p>
            <a:pPr algn="l" indent="0" marL="0">
              <a:lnSpc>
                <a:spcPts val="2875"/>
              </a:lnSpc>
              <a:buNone/>
            </a:pPr>
            <a:r>
              <a:rPr lang="en-US" sz="2500" dirty="0">
                <a:solidFill>
                  <a:srgbClr val="F2EDE1"/>
                </a:solidFill>
                <a:latin typeface="Russo One" pitchFamily="34" charset="0"/>
                <a:ea typeface="Russo One" pitchFamily="34" charset="-122"/>
                <a:cs typeface="Russo One" pitchFamily="34" charset="-120"/>
              </a:rPr>
              <a:t>Не до границы, а в блиндажи бойцов — лично в руки</a:t>
            </a:r>
            <a:endParaRPr lang="en-US" sz="2500" dirty="0"/>
          </a:p>
        </p:txBody>
      </p:sp>
      <p:sp>
        <p:nvSpPr>
          <p:cNvPr id="9" name="Text 6"/>
          <p:cNvSpPr/>
          <p:nvPr/>
        </p:nvSpPr>
        <p:spPr>
          <a:xfrm>
            <a:off x="6715760" y="2588895"/>
            <a:ext cx="4531258" cy="2597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CFCABD"/>
                </a:solidFill>
                <a:latin typeface="Exo 2" pitchFamily="34" charset="0"/>
                <a:ea typeface="Exo 2" pitchFamily="34" charset="-122"/>
                <a:cs typeface="Exo 2" pitchFamily="34" charset="-120"/>
              </a:rPr>
              <a:t>Для него патриотизм — это не просто понятие, это действия, очень конкретные, очень важные, а СВО не где-то за ленточкой, а ежедневно рядом: в каждой мысли, в каждом разговоре с людьми, в каждой идее. Он переживает за каждого бойца, знает их нужды, управляет сборами и везёт гуманитарный груз не куда-то до границы, а непосредственно в блиндажи бойцов, им лично в руки.</a:t>
            </a:r>
            <a:endParaRPr lang="en-US" sz="1500" dirty="0"/>
          </a:p>
        </p:txBody>
      </p:sp>
      <p:sp>
        <p:nvSpPr>
          <p:cNvPr id="10" name="Text 7"/>
          <p:cNvSpPr/>
          <p:nvPr/>
        </p:nvSpPr>
        <p:spPr>
          <a:xfrm>
            <a:off x="711200" y="6339841"/>
            <a:ext cx="7194550" cy="238760"/>
          </a:xfrm>
          <a:prstGeom prst="rect">
            <a:avLst/>
          </a:prstGeom>
          <a:noFill/>
          <a:ln/>
        </p:spPr>
        <p:txBody>
          <a:bodyPr wrap="none" lIns="0" tIns="0" rIns="0" bIns="0" rtlCol="0" anchor="t">
            <a:normAutofit/>
          </a:bodyPr>
          <a:lstStyle/>
          <a:p>
            <a:pPr algn="l" indent="0" marL="0">
              <a:lnSpc>
                <a:spcPts val="1680"/>
              </a:lnSpc>
              <a:buNone/>
            </a:pPr>
            <a:r>
              <a:rPr lang="en-US" sz="1200" spc="120" kern="0" dirty="0">
                <a:solidFill>
                  <a:srgbClr val="8C897F"/>
                </a:solidFill>
                <a:latin typeface="IBM Plex Mono" pitchFamily="49" charset="0"/>
                <a:ea typeface="IBM Plex Mono" pitchFamily="49" charset="-122"/>
                <a:cs typeface="IBM Plex Mono" pitchFamily="49" charset="-120"/>
              </a:rPr>
              <a:t>XXIX АКЦИЯ «БЛАГОРОДСТВО» · АЛЕКСАНДР ЧИКИН</a:t>
            </a:r>
            <a:endParaRPr lang="en-US" sz="1200" dirty="0"/>
          </a:p>
        </p:txBody>
      </p:sp>
      <p:sp>
        <p:nvSpPr>
          <p:cNvPr id="11" name="Text 8"/>
          <p:cNvSpPr/>
          <p:nvPr/>
        </p:nvSpPr>
        <p:spPr>
          <a:xfrm>
            <a:off x="10160000" y="63398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spc="120" kern="0" dirty="0">
                <a:solidFill>
                  <a:srgbClr val="8C897F"/>
                </a:solidFill>
                <a:latin typeface="IBM Plex Mono" pitchFamily="49" charset="0"/>
                <a:ea typeface="IBM Plex Mono" pitchFamily="49" charset="-122"/>
                <a:cs typeface="IBM Plex Mono" pitchFamily="49" charset="-120"/>
              </a:rPr>
              <a:t>02 / 11</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D0F"/>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711200" y="609600"/>
            <a:ext cx="6331204" cy="238760"/>
          </a:xfrm>
          <a:prstGeom prst="rect">
            <a:avLst/>
          </a:prstGeom>
          <a:noFill/>
          <a:ln/>
        </p:spPr>
        <p:txBody>
          <a:bodyPr wrap="square" lIns="0" tIns="0" rIns="0" bIns="0" rtlCol="0" anchor="t">
            <a:normAutofit/>
          </a:bodyPr>
          <a:lstStyle/>
          <a:p>
            <a:pPr algn="l" indent="0" marL="0">
              <a:lnSpc>
                <a:spcPts val="1680"/>
              </a:lnSpc>
              <a:buNone/>
            </a:pPr>
            <a:r>
              <a:rPr lang="en-US" sz="1200" b="1" spc="215" kern="0" dirty="0">
                <a:solidFill>
                  <a:srgbClr val="FFB020"/>
                </a:solidFill>
                <a:latin typeface="Exo 2" pitchFamily="34" charset="0"/>
                <a:ea typeface="Exo 2" pitchFamily="34" charset="-122"/>
                <a:cs typeface="Exo 2" pitchFamily="34" charset="-120"/>
              </a:rPr>
              <a:t>ВОЛОНТЁРСКОЕ СООБЩЕСТВО · С ЯНВАРЯ 2023 ГОДА</a:t>
            </a:r>
            <a:endParaRPr lang="en-US" sz="1200" dirty="0"/>
          </a:p>
        </p:txBody>
      </p:sp>
      <p:sp>
        <p:nvSpPr>
          <p:cNvPr id="4" name="Text 1"/>
          <p:cNvSpPr/>
          <p:nvPr>
            <p:ph type="title"/>
          </p:nvPr>
        </p:nvSpPr>
        <p:spPr>
          <a:xfrm>
            <a:off x="711200" y="911861"/>
            <a:ext cx="6331204" cy="1333818"/>
          </a:xfrm>
          <a:prstGeom prst="rect">
            <a:avLst/>
          </a:prstGeom>
          <a:noFill/>
          <a:ln/>
        </p:spPr>
        <p:txBody>
          <a:bodyPr wrap="square" lIns="0" tIns="0" rIns="0" bIns="0" rtlCol="0" anchor="t">
            <a:normAutofit/>
          </a:bodyPr>
          <a:lstStyle/>
          <a:p>
            <a:pPr algn="l" indent="0" marL="0">
              <a:lnSpc>
                <a:spcPts val="2576"/>
              </a:lnSpc>
              <a:buNone/>
            </a:pPr>
            <a:r>
              <a:rPr lang="en-US" sz="2300" b="0" i="0" dirty="0">
                <a:solidFill>
                  <a:srgbClr val="F2EDE1"/>
                </a:solidFill>
                <a:latin typeface="Russo One" pitchFamily="34" charset="0"/>
                <a:ea typeface="Russo One" pitchFamily="34" charset="-122"/>
                <a:cs typeface="Russo One" pitchFamily="34" charset="-120"/>
              </a:rPr>
              <a:t>Александр Чикин — один из организаторов и лидеров волонтёрского сообщества «Самара для фронта»</a:t>
            </a:r>
            <a:endParaRPr lang="en-US" sz="2300" dirty="0"/>
          </a:p>
        </p:txBody>
      </p:sp>
      <p:sp>
        <p:nvSpPr>
          <p:cNvPr id="5" name="Text 2"/>
          <p:cNvSpPr/>
          <p:nvPr/>
        </p:nvSpPr>
        <p:spPr>
          <a:xfrm>
            <a:off x="711200" y="2309178"/>
            <a:ext cx="6331204" cy="238760"/>
          </a:xfrm>
          <a:prstGeom prst="rect">
            <a:avLst/>
          </a:prstGeom>
          <a:noFill/>
          <a:ln/>
        </p:spPr>
        <p:txBody>
          <a:bodyPr wrap="square" lIns="0" tIns="0" rIns="0" bIns="0" rtlCol="0" anchor="t">
            <a:normAutofit/>
          </a:bodyPr>
          <a:lstStyle/>
          <a:p>
            <a:pPr algn="l" indent="0" marL="0">
              <a:lnSpc>
                <a:spcPts val="1680"/>
              </a:lnSpc>
              <a:buNone/>
            </a:pPr>
            <a:r>
              <a:rPr lang="en-US" sz="1200" spc="145" kern="0" dirty="0">
                <a:solidFill>
                  <a:srgbClr val="A9A59A"/>
                </a:solidFill>
                <a:latin typeface="IBM Plex Mono" pitchFamily="49" charset="0"/>
                <a:ea typeface="IBM Plex Mono" pitchFamily="49" charset="-122"/>
                <a:cs typeface="IBM Plex Mono" pitchFamily="49" charset="-120"/>
              </a:rPr>
              <a:t>ЗА ЭТИ ГОДЫ АЛЕКСАНДР СОВЕРШИЛ</a:t>
            </a:r>
            <a:endParaRPr lang="en-US" sz="1200" dirty="0"/>
          </a:p>
        </p:txBody>
      </p:sp>
      <p:sp>
        <p:nvSpPr>
          <p:cNvPr id="6" name="Shape 3"/>
          <p:cNvSpPr/>
          <p:nvPr/>
        </p:nvSpPr>
        <p:spPr>
          <a:xfrm>
            <a:off x="711200" y="2611438"/>
            <a:ext cx="3403600" cy="812800"/>
          </a:xfrm>
          <a:prstGeom prst="roundRect">
            <a:avLst>
              <a:gd name="adj" fmla="val 12500"/>
            </a:avLst>
          </a:prstGeom>
          <a:gradFill rotWithShape="1">
            <a:gsLst>
              <a:gs pos="0">
                <a:srgbClr val="4A4B50"/>
              </a:gs>
              <a:gs pos="100000">
                <a:srgbClr val="1D1E21"/>
              </a:gs>
            </a:gsLst>
            <a:lin ang="5400000" scaled="0"/>
          </a:gradFill>
          <a:ln/>
        </p:spPr>
      </p:sp>
      <p:sp>
        <p:nvSpPr>
          <p:cNvPr id="7" name="Text 4"/>
          <p:cNvSpPr/>
          <p:nvPr/>
        </p:nvSpPr>
        <p:spPr>
          <a:xfrm>
            <a:off x="774700" y="2674938"/>
            <a:ext cx="495300" cy="685800"/>
          </a:xfrm>
          <a:prstGeom prst="roundRect">
            <a:avLst>
              <a:gd name="adj" fmla="val 11538"/>
            </a:avLst>
          </a:pr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4300"/>
              </a:lnSpc>
              <a:buNone/>
            </a:pPr>
            <a:r>
              <a:rPr lang="en-US" sz="4300" dirty="0">
                <a:solidFill>
                  <a:srgbClr val="F2EDE1"/>
                </a:solidFill>
                <a:latin typeface="Russo One" pitchFamily="34" charset="0"/>
                <a:ea typeface="Russo One" pitchFamily="34" charset="-122"/>
                <a:cs typeface="Russo One" pitchFamily="34" charset="-120"/>
              </a:rPr>
              <a:t>1</a:t>
            </a:r>
            <a:endParaRPr lang="en-US" sz="4300" dirty="0"/>
          </a:p>
        </p:txBody>
      </p:sp>
      <p:sp>
        <p:nvSpPr>
          <p:cNvPr id="8" name="Text 5"/>
          <p:cNvSpPr/>
          <p:nvPr/>
        </p:nvSpPr>
        <p:spPr>
          <a:xfrm>
            <a:off x="1320800" y="2674938"/>
            <a:ext cx="495300" cy="685800"/>
          </a:xfrm>
          <a:prstGeom prst="roundRect">
            <a:avLst>
              <a:gd name="adj" fmla="val 11538"/>
            </a:avLst>
          </a:pr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4300"/>
              </a:lnSpc>
              <a:buNone/>
            </a:pPr>
            <a:r>
              <a:rPr lang="en-US" sz="4300" dirty="0">
                <a:solidFill>
                  <a:srgbClr val="F2EDE1"/>
                </a:solidFill>
                <a:latin typeface="Russo One" pitchFamily="34" charset="0"/>
                <a:ea typeface="Russo One" pitchFamily="34" charset="-122"/>
                <a:cs typeface="Russo One" pitchFamily="34" charset="-120"/>
              </a:rPr>
              <a:t>7</a:t>
            </a:r>
            <a:endParaRPr lang="en-US" sz="4300" dirty="0"/>
          </a:p>
        </p:txBody>
      </p:sp>
      <p:sp>
        <p:nvSpPr>
          <p:cNvPr id="9" name="Text 6"/>
          <p:cNvSpPr/>
          <p:nvPr/>
        </p:nvSpPr>
        <p:spPr>
          <a:xfrm>
            <a:off x="1866900" y="2674938"/>
            <a:ext cx="495300" cy="685800"/>
          </a:xfrm>
          <a:custGeom>
            <a:avLst/>
            <a:gdLst/>
            <a:ahLst/>
            <a:cxnLst/>
            <a:rect l="l" t="t" r="r" b="b"/>
            <a:pathLst>
              <a:path w="495300" h="685800">
                <a:moveTo>
                  <a:pt x="57150" y="0"/>
                </a:moveTo>
                <a:lnTo>
                  <a:pt x="438150" y="0"/>
                </a:lnTo>
                <a:arcTo hR="57150" wR="57150" stAng="16200000" swAng="5400000"/>
                <a:lnTo>
                  <a:pt x="495300" y="628650"/>
                </a:lnTo>
                <a:arcTo hR="57150" wR="57150" stAng="0" swAng="5400000"/>
                <a:lnTo>
                  <a:pt x="57150" y="685800"/>
                </a:lnTo>
                <a:arcTo hR="57150" wR="57150" stAng="5400000" swAng="5400000"/>
                <a:lnTo>
                  <a:pt x="0" y="57150"/>
                </a:lnTo>
                <a:arcTo hR="57150" wR="57150" stAng="10800000" swAng="5400000"/>
                <a:close/>
              </a:path>
            </a:pathLst>
          </a:cu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4300"/>
              </a:lnSpc>
              <a:buNone/>
            </a:pPr>
            <a:r>
              <a:rPr lang="en-US" sz="4300" dirty="0">
                <a:solidFill>
                  <a:srgbClr val="F2EDE1"/>
                </a:solidFill>
                <a:latin typeface="Russo One" pitchFamily="34" charset="0"/>
                <a:ea typeface="Russo One" pitchFamily="34" charset="-122"/>
                <a:cs typeface="Russo One" pitchFamily="34" charset="-120"/>
              </a:rPr>
              <a:t>0</a:t>
            </a:r>
            <a:endParaRPr lang="en-US" sz="4300" dirty="0"/>
          </a:p>
        </p:txBody>
      </p:sp>
      <p:sp>
        <p:nvSpPr>
          <p:cNvPr id="10" name="Text 7"/>
          <p:cNvSpPr/>
          <p:nvPr/>
        </p:nvSpPr>
        <p:spPr>
          <a:xfrm>
            <a:off x="2463800" y="2674938"/>
            <a:ext cx="495300" cy="685800"/>
          </a:xfrm>
          <a:custGeom>
            <a:avLst/>
            <a:gdLst/>
            <a:ahLst/>
            <a:cxnLst/>
            <a:rect l="l" t="t" r="r" b="b"/>
            <a:pathLst>
              <a:path w="495300" h="685800">
                <a:moveTo>
                  <a:pt x="57150" y="0"/>
                </a:moveTo>
                <a:lnTo>
                  <a:pt x="438150" y="0"/>
                </a:lnTo>
                <a:arcTo hR="57150" wR="57150" stAng="16200000" swAng="5400000"/>
                <a:lnTo>
                  <a:pt x="495300" y="628650"/>
                </a:lnTo>
                <a:arcTo hR="57150" wR="57150" stAng="0" swAng="5400000"/>
                <a:lnTo>
                  <a:pt x="57150" y="685800"/>
                </a:lnTo>
                <a:arcTo hR="57150" wR="57150" stAng="5400000" swAng="5400000"/>
                <a:lnTo>
                  <a:pt x="0" y="57150"/>
                </a:lnTo>
                <a:arcTo hR="57150" wR="57150" stAng="10800000" swAng="5400000"/>
                <a:close/>
              </a:path>
            </a:pathLst>
          </a:cu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4300"/>
              </a:lnSpc>
              <a:buNone/>
            </a:pPr>
            <a:r>
              <a:rPr lang="en-US" sz="4300" dirty="0">
                <a:solidFill>
                  <a:srgbClr val="F2EDE1"/>
                </a:solidFill>
                <a:latin typeface="Russo One" pitchFamily="34" charset="0"/>
                <a:ea typeface="Russo One" pitchFamily="34" charset="-122"/>
                <a:cs typeface="Russo One" pitchFamily="34" charset="-120"/>
              </a:rPr>
              <a:t>0</a:t>
            </a:r>
            <a:endParaRPr lang="en-US" sz="4300" dirty="0"/>
          </a:p>
        </p:txBody>
      </p:sp>
      <p:sp>
        <p:nvSpPr>
          <p:cNvPr id="11" name="Text 8"/>
          <p:cNvSpPr/>
          <p:nvPr/>
        </p:nvSpPr>
        <p:spPr>
          <a:xfrm>
            <a:off x="3009900" y="2674938"/>
            <a:ext cx="495300" cy="685800"/>
          </a:xfrm>
          <a:custGeom>
            <a:avLst/>
            <a:gdLst/>
            <a:ahLst/>
            <a:cxnLst/>
            <a:rect l="l" t="t" r="r" b="b"/>
            <a:pathLst>
              <a:path w="495300" h="685800">
                <a:moveTo>
                  <a:pt x="57150" y="0"/>
                </a:moveTo>
                <a:lnTo>
                  <a:pt x="438150" y="0"/>
                </a:lnTo>
                <a:arcTo hR="57150" wR="57150" stAng="16200000" swAng="5400000"/>
                <a:lnTo>
                  <a:pt x="495300" y="628650"/>
                </a:lnTo>
                <a:arcTo hR="57150" wR="57150" stAng="0" swAng="5400000"/>
                <a:lnTo>
                  <a:pt x="57150" y="685800"/>
                </a:lnTo>
                <a:arcTo hR="57150" wR="57150" stAng="5400000" swAng="5400000"/>
                <a:lnTo>
                  <a:pt x="0" y="57150"/>
                </a:lnTo>
                <a:arcTo hR="57150" wR="57150" stAng="10800000" swAng="5400000"/>
                <a:close/>
              </a:path>
            </a:pathLst>
          </a:cu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4300"/>
              </a:lnSpc>
              <a:buNone/>
            </a:pPr>
            <a:r>
              <a:rPr lang="en-US" sz="4300" dirty="0">
                <a:solidFill>
                  <a:srgbClr val="F2EDE1"/>
                </a:solidFill>
                <a:latin typeface="Russo One" pitchFamily="34" charset="0"/>
                <a:ea typeface="Russo One" pitchFamily="34" charset="-122"/>
                <a:cs typeface="Russo One" pitchFamily="34" charset="-120"/>
              </a:rPr>
              <a:t>0</a:t>
            </a:r>
            <a:endParaRPr lang="en-US" sz="4300" dirty="0"/>
          </a:p>
        </p:txBody>
      </p:sp>
      <p:sp>
        <p:nvSpPr>
          <p:cNvPr id="12" name="Text 9"/>
          <p:cNvSpPr/>
          <p:nvPr/>
        </p:nvSpPr>
        <p:spPr>
          <a:xfrm>
            <a:off x="3556000" y="2674938"/>
            <a:ext cx="495300" cy="685800"/>
          </a:xfrm>
          <a:custGeom>
            <a:avLst/>
            <a:gdLst/>
            <a:ahLst/>
            <a:cxnLst/>
            <a:rect l="l" t="t" r="r" b="b"/>
            <a:pathLst>
              <a:path w="495300" h="685800">
                <a:moveTo>
                  <a:pt x="57150" y="0"/>
                </a:moveTo>
                <a:lnTo>
                  <a:pt x="438150" y="0"/>
                </a:lnTo>
                <a:arcTo hR="57150" wR="57150" stAng="16200000" swAng="5400000"/>
                <a:lnTo>
                  <a:pt x="495300" y="628650"/>
                </a:lnTo>
                <a:arcTo hR="57150" wR="57150" stAng="0" swAng="5400000"/>
                <a:lnTo>
                  <a:pt x="57150" y="685800"/>
                </a:lnTo>
                <a:arcTo hR="57150" wR="57150" stAng="5400000" swAng="5400000"/>
                <a:lnTo>
                  <a:pt x="0" y="57150"/>
                </a:lnTo>
                <a:arcTo hR="57150" wR="57150" stAng="10800000" swAng="5400000"/>
                <a:close/>
              </a:path>
            </a:pathLst>
          </a:cu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4300"/>
              </a:lnSpc>
              <a:buNone/>
            </a:pPr>
            <a:r>
              <a:rPr lang="en-US" sz="4300" dirty="0">
                <a:solidFill>
                  <a:srgbClr val="F2EDE1"/>
                </a:solidFill>
                <a:latin typeface="Russo One" pitchFamily="34" charset="0"/>
                <a:ea typeface="Russo One" pitchFamily="34" charset="-122"/>
                <a:cs typeface="Russo One" pitchFamily="34" charset="-120"/>
              </a:rPr>
              <a:t>0</a:t>
            </a:r>
            <a:endParaRPr lang="en-US" sz="4300" dirty="0"/>
          </a:p>
        </p:txBody>
      </p:sp>
      <p:sp>
        <p:nvSpPr>
          <p:cNvPr id="13" name="Text 10"/>
          <p:cNvSpPr/>
          <p:nvPr/>
        </p:nvSpPr>
        <p:spPr>
          <a:xfrm>
            <a:off x="4279900" y="2660650"/>
            <a:ext cx="1574800" cy="739775"/>
          </a:xfrm>
          <a:prstGeom prst="rect">
            <a:avLst/>
          </a:prstGeom>
          <a:noFill/>
          <a:ln/>
        </p:spPr>
        <p:txBody>
          <a:bodyPr wrap="square" lIns="0" tIns="0" rIns="0" bIns="0" rtlCol="0" anchor="t">
            <a:normAutofit/>
          </a:bodyPr>
          <a:lstStyle/>
          <a:p>
            <a:pPr algn="l" indent="0" marL="0">
              <a:lnSpc>
                <a:spcPts val="1875"/>
              </a:lnSpc>
              <a:buNone/>
            </a:pPr>
            <a:r>
              <a:rPr lang="en-US" sz="1500" dirty="0">
                <a:solidFill>
                  <a:srgbClr val="E6E0D2"/>
                </a:solidFill>
                <a:latin typeface="Exo 2" pitchFamily="34" charset="0"/>
                <a:ea typeface="Exo 2" pitchFamily="34" charset="-122"/>
                <a:cs typeface="Exo 2" pitchFamily="34" charset="-120"/>
              </a:rPr>
              <a:t>км по территориям СВО</a:t>
            </a:r>
            <a:endParaRPr lang="en-US" sz="1500" dirty="0"/>
          </a:p>
        </p:txBody>
      </p:sp>
      <p:sp>
        <p:nvSpPr>
          <p:cNvPr id="14" name="Text 11"/>
          <p:cNvSpPr/>
          <p:nvPr/>
        </p:nvSpPr>
        <p:spPr>
          <a:xfrm>
            <a:off x="711200" y="3513138"/>
            <a:ext cx="6331204"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A9A59A"/>
                </a:solidFill>
                <a:latin typeface="Exo 2" pitchFamily="34" charset="0"/>
                <a:ea typeface="Exo 2" pitchFamily="34" charset="-122"/>
                <a:cs typeface="Exo 2" pitchFamily="34" charset="-120"/>
              </a:rPr>
              <a:t>Белгородская обл. · ЛНР · ДНР · Запорожская и Херсонская обл.</a:t>
            </a:r>
            <a:endParaRPr lang="en-US" sz="1300" dirty="0"/>
          </a:p>
        </p:txBody>
      </p:sp>
      <p:sp>
        <p:nvSpPr>
          <p:cNvPr id="15" name="Shape 12"/>
          <p:cNvSpPr/>
          <p:nvPr/>
        </p:nvSpPr>
        <p:spPr>
          <a:xfrm>
            <a:off x="717550" y="3831273"/>
            <a:ext cx="1917700" cy="1755775"/>
          </a:xfrm>
          <a:prstGeom prst="roundRect">
            <a:avLst>
              <a:gd name="adj" fmla="val 5425"/>
            </a:avLst>
          </a:prstGeom>
          <a:solidFill>
            <a:srgbClr val="131417"/>
          </a:solidFill>
          <a:ln w="12700">
            <a:solidFill>
              <a:srgbClr val="2A2B30"/>
            </a:solidFill>
            <a:prstDash val="solid"/>
          </a:ln>
        </p:spPr>
      </p:sp>
      <p:sp>
        <p:nvSpPr>
          <p:cNvPr id="16" name="Text 13"/>
          <p:cNvSpPr/>
          <p:nvPr/>
        </p:nvSpPr>
        <p:spPr>
          <a:xfrm>
            <a:off x="861060" y="3949382"/>
            <a:ext cx="1681480" cy="398780"/>
          </a:xfrm>
          <a:prstGeom prst="rect">
            <a:avLst/>
          </a:prstGeom>
          <a:noFill/>
          <a:ln/>
        </p:spPr>
        <p:txBody>
          <a:bodyPr wrap="square" lIns="0" tIns="0" rIns="0" bIns="0" rtlCol="0" anchor="t">
            <a:normAutofit/>
          </a:bodyPr>
          <a:lstStyle/>
          <a:p>
            <a:pPr algn="l" indent="0" marL="0">
              <a:lnSpc>
                <a:spcPts val="2940"/>
              </a:lnSpc>
              <a:buNone/>
            </a:pPr>
            <a:r>
              <a:rPr lang="en-US" sz="2800" dirty="0">
                <a:solidFill>
                  <a:srgbClr val="FFB020"/>
                </a:solidFill>
                <a:latin typeface="Russo One" pitchFamily="34" charset="0"/>
                <a:ea typeface="Russo One" pitchFamily="34" charset="-122"/>
                <a:cs typeface="Russo One" pitchFamily="34" charset="-120"/>
              </a:rPr>
              <a:t>43</a:t>
            </a:r>
            <a:endParaRPr lang="en-US" sz="2800" dirty="0"/>
          </a:p>
        </p:txBody>
      </p:sp>
      <p:sp>
        <p:nvSpPr>
          <p:cNvPr id="17" name="Text 14"/>
          <p:cNvSpPr/>
          <p:nvPr/>
        </p:nvSpPr>
        <p:spPr>
          <a:xfrm>
            <a:off x="861060" y="4373563"/>
            <a:ext cx="1681480" cy="207963"/>
          </a:xfrm>
          <a:prstGeom prst="rect">
            <a:avLst/>
          </a:prstGeom>
          <a:noFill/>
          <a:ln/>
        </p:spPr>
        <p:txBody>
          <a:bodyPr wrap="square" lIns="0" tIns="0" rIns="0" bIns="0" rtlCol="0" anchor="t">
            <a:normAutofit/>
          </a:bodyPr>
          <a:lstStyle/>
          <a:p>
            <a:pPr algn="l" indent="0" marL="0">
              <a:lnSpc>
                <a:spcPts val="1438"/>
              </a:lnSpc>
              <a:buNone/>
            </a:pPr>
            <a:r>
              <a:rPr lang="en-US" sz="1150" dirty="0">
                <a:solidFill>
                  <a:srgbClr val="E6E0D2"/>
                </a:solidFill>
                <a:latin typeface="Exo 2" pitchFamily="34" charset="0"/>
                <a:ea typeface="Exo 2" pitchFamily="34" charset="-122"/>
                <a:cs typeface="Exo 2" pitchFamily="34" charset="-120"/>
              </a:rPr>
              <a:t>выезда за ленточку</a:t>
            </a:r>
            <a:endParaRPr lang="en-US" sz="1150" dirty="0"/>
          </a:p>
        </p:txBody>
      </p:sp>
      <p:sp>
        <p:nvSpPr>
          <p:cNvPr id="18" name="Shape 15"/>
          <p:cNvSpPr/>
          <p:nvPr/>
        </p:nvSpPr>
        <p:spPr>
          <a:xfrm>
            <a:off x="2825750" y="3831273"/>
            <a:ext cx="1917700" cy="1755775"/>
          </a:xfrm>
          <a:prstGeom prst="roundRect">
            <a:avLst>
              <a:gd name="adj" fmla="val 5425"/>
            </a:avLst>
          </a:prstGeom>
          <a:solidFill>
            <a:srgbClr val="131417"/>
          </a:solidFill>
          <a:ln w="12700">
            <a:solidFill>
              <a:srgbClr val="2A2B30"/>
            </a:solidFill>
            <a:prstDash val="solid"/>
          </a:ln>
        </p:spPr>
      </p:sp>
      <p:sp>
        <p:nvSpPr>
          <p:cNvPr id="19" name="Text 16"/>
          <p:cNvSpPr/>
          <p:nvPr/>
        </p:nvSpPr>
        <p:spPr>
          <a:xfrm>
            <a:off x="2969260" y="3949382"/>
            <a:ext cx="1681480" cy="398780"/>
          </a:xfrm>
          <a:prstGeom prst="rect">
            <a:avLst/>
          </a:prstGeom>
          <a:noFill/>
          <a:ln/>
        </p:spPr>
        <p:txBody>
          <a:bodyPr wrap="square" lIns="0" tIns="0" rIns="0" bIns="0" rtlCol="0" anchor="t">
            <a:normAutofit/>
          </a:bodyPr>
          <a:lstStyle/>
          <a:p>
            <a:pPr algn="l" indent="0" marL="0">
              <a:lnSpc>
                <a:spcPts val="2940"/>
              </a:lnSpc>
              <a:buNone/>
            </a:pPr>
            <a:r>
              <a:rPr lang="en-US" sz="2800" dirty="0">
                <a:solidFill>
                  <a:srgbClr val="FFB020"/>
                </a:solidFill>
                <a:latin typeface="Russo One" pitchFamily="34" charset="0"/>
                <a:ea typeface="Russo One" pitchFamily="34" charset="-122"/>
                <a:cs typeface="Russo One" pitchFamily="34" charset="-120"/>
              </a:rPr>
              <a:t>200+</a:t>
            </a:r>
            <a:endParaRPr lang="en-US" sz="2800" dirty="0"/>
          </a:p>
        </p:txBody>
      </p:sp>
      <p:sp>
        <p:nvSpPr>
          <p:cNvPr id="20" name="Text 17"/>
          <p:cNvSpPr/>
          <p:nvPr/>
        </p:nvSpPr>
        <p:spPr>
          <a:xfrm>
            <a:off x="2969260" y="4373563"/>
            <a:ext cx="1681480" cy="573088"/>
          </a:xfrm>
          <a:prstGeom prst="rect">
            <a:avLst/>
          </a:prstGeom>
          <a:noFill/>
          <a:ln/>
        </p:spPr>
        <p:txBody>
          <a:bodyPr wrap="square" lIns="0" tIns="0" rIns="0" bIns="0" rtlCol="0" anchor="t">
            <a:normAutofit/>
          </a:bodyPr>
          <a:lstStyle/>
          <a:p>
            <a:pPr algn="l" indent="0" marL="0">
              <a:lnSpc>
                <a:spcPts val="1438"/>
              </a:lnSpc>
              <a:buNone/>
            </a:pPr>
            <a:r>
              <a:rPr lang="en-US" sz="1150" dirty="0">
                <a:solidFill>
                  <a:srgbClr val="E6E0D2"/>
                </a:solidFill>
                <a:latin typeface="Exo 2" pitchFamily="34" charset="0"/>
                <a:ea typeface="Exo 2" pitchFamily="34" charset="-122"/>
                <a:cs typeface="Exo 2" pitchFamily="34" charset="-120"/>
              </a:rPr>
              <a:t>тонн гуманитарного груза, из них не менее 5 тонн медикаментов</a:t>
            </a:r>
            <a:endParaRPr lang="en-US" sz="1150" dirty="0"/>
          </a:p>
        </p:txBody>
      </p:sp>
      <p:sp>
        <p:nvSpPr>
          <p:cNvPr id="21" name="Shape 18"/>
          <p:cNvSpPr/>
          <p:nvPr/>
        </p:nvSpPr>
        <p:spPr>
          <a:xfrm>
            <a:off x="4933950" y="3831273"/>
            <a:ext cx="1917700" cy="1755775"/>
          </a:xfrm>
          <a:prstGeom prst="roundRect">
            <a:avLst>
              <a:gd name="adj" fmla="val 5425"/>
            </a:avLst>
          </a:prstGeom>
          <a:solidFill>
            <a:srgbClr val="131417"/>
          </a:solidFill>
          <a:ln w="12700">
            <a:solidFill>
              <a:srgbClr val="2A2B30"/>
            </a:solidFill>
            <a:prstDash val="solid"/>
          </a:ln>
        </p:spPr>
      </p:sp>
      <p:sp>
        <p:nvSpPr>
          <p:cNvPr id="22" name="Text 19"/>
          <p:cNvSpPr/>
          <p:nvPr/>
        </p:nvSpPr>
        <p:spPr>
          <a:xfrm>
            <a:off x="5077460" y="3949382"/>
            <a:ext cx="1681480" cy="398780"/>
          </a:xfrm>
          <a:prstGeom prst="rect">
            <a:avLst/>
          </a:prstGeom>
          <a:noFill/>
          <a:ln/>
        </p:spPr>
        <p:txBody>
          <a:bodyPr wrap="square" lIns="0" tIns="0" rIns="0" bIns="0" rtlCol="0" anchor="t">
            <a:normAutofit/>
          </a:bodyPr>
          <a:lstStyle/>
          <a:p>
            <a:pPr algn="l" indent="0" marL="0">
              <a:lnSpc>
                <a:spcPts val="2940"/>
              </a:lnSpc>
              <a:buNone/>
            </a:pPr>
            <a:r>
              <a:rPr lang="en-US" sz="2800" dirty="0">
                <a:solidFill>
                  <a:srgbClr val="FFB020"/>
                </a:solidFill>
                <a:latin typeface="Russo One" pitchFamily="34" charset="0"/>
                <a:ea typeface="Russo One" pitchFamily="34" charset="-122"/>
                <a:cs typeface="Russo One" pitchFamily="34" charset="-120"/>
              </a:rPr>
              <a:t>30</a:t>
            </a:r>
            <a:endParaRPr lang="en-US" sz="2800" dirty="0"/>
          </a:p>
        </p:txBody>
      </p:sp>
      <p:sp>
        <p:nvSpPr>
          <p:cNvPr id="23" name="Text 20"/>
          <p:cNvSpPr/>
          <p:nvPr/>
        </p:nvSpPr>
        <p:spPr>
          <a:xfrm>
            <a:off x="5077460" y="4373563"/>
            <a:ext cx="1681480" cy="1120775"/>
          </a:xfrm>
          <a:prstGeom prst="rect">
            <a:avLst/>
          </a:prstGeom>
          <a:noFill/>
          <a:ln/>
        </p:spPr>
        <p:txBody>
          <a:bodyPr wrap="square" lIns="0" tIns="0" rIns="0" bIns="0" rtlCol="0" anchor="t">
            <a:normAutofit/>
          </a:bodyPr>
          <a:lstStyle/>
          <a:p>
            <a:pPr algn="l" indent="0" marL="0">
              <a:lnSpc>
                <a:spcPts val="1438"/>
              </a:lnSpc>
              <a:buNone/>
            </a:pPr>
            <a:r>
              <a:rPr lang="en-US" sz="1150" dirty="0">
                <a:solidFill>
                  <a:srgbClr val="E6E0D2"/>
                </a:solidFill>
                <a:latin typeface="Exo 2" pitchFamily="34" charset="0"/>
                <a:ea typeface="Exo 2" pitchFamily="34" charset="-122"/>
                <a:cs typeface="Exo 2" pitchFamily="34" charset="-120"/>
              </a:rPr>
              <a:t>полноприводных УАЗ и «Нива» отремонтированы в личном автосервисе Александра и доставлены</a:t>
            </a:r>
            <a:endParaRPr lang="en-US" sz="1150" dirty="0"/>
          </a:p>
        </p:txBody>
      </p:sp>
      <p:pic>
        <p:nvPicPr>
          <p:cNvPr id="24" name="Image 1" descr="Александр Чикин у знака «Северодонецк» с флагом сообщества">    </p:cNvPr>
          <p:cNvPicPr>
            <a:picLocks noChangeAspect="1"/>
          </p:cNvPicPr>
          <p:nvPr/>
        </p:nvPicPr>
        <p:blipFill>
          <a:blip r:embed="rId2"/>
          <a:srcRect l="0" r="0" t="100" b="100"/>
          <a:stretch/>
        </p:blipFill>
        <p:spPr>
          <a:xfrm>
            <a:off x="7251700" y="622300"/>
            <a:ext cx="4216400" cy="3155950"/>
          </a:xfrm>
          <a:prstGeom prst="roundRect">
            <a:avLst>
              <a:gd name="adj" fmla="val 805"/>
            </a:avLst>
          </a:prstGeom>
        </p:spPr>
      </p:pic>
      <p:sp>
        <p:nvSpPr>
          <p:cNvPr id="25" name="Shape 21"/>
          <p:cNvSpPr/>
          <p:nvPr/>
        </p:nvSpPr>
        <p:spPr>
          <a:xfrm>
            <a:off x="7245350" y="615950"/>
            <a:ext cx="4229100" cy="3168650"/>
          </a:xfrm>
          <a:prstGeom prst="roundRect">
            <a:avLst>
              <a:gd name="adj" fmla="val 1002"/>
            </a:avLst>
          </a:prstGeom>
          <a:noFill/>
          <a:ln w="12700">
            <a:solidFill>
              <a:srgbClr val="FFB020"/>
            </a:solidFill>
            <a:prstDash val="solid"/>
          </a:ln>
        </p:spPr>
      </p:sp>
      <p:pic>
        <p:nvPicPr>
          <p:cNvPr id="26" name="Image 2" descr="Волонтёры у стелы «Сватово»">    </p:cNvPr>
          <p:cNvPicPr>
            <a:picLocks noChangeAspect="1"/>
          </p:cNvPicPr>
          <p:nvPr/>
        </p:nvPicPr>
        <p:blipFill>
          <a:blip r:embed="rId3"/>
          <a:srcRect l="423" r="423" t="0" b="0"/>
          <a:stretch/>
        </p:blipFill>
        <p:spPr>
          <a:xfrm>
            <a:off x="7251700" y="3956050"/>
            <a:ext cx="1257300" cy="2254250"/>
          </a:xfrm>
          <a:prstGeom prst="roundRect">
            <a:avLst>
              <a:gd name="adj" fmla="val 2020"/>
            </a:avLst>
          </a:prstGeom>
        </p:spPr>
      </p:pic>
      <p:sp>
        <p:nvSpPr>
          <p:cNvPr id="27" name="Shape 22"/>
          <p:cNvSpPr/>
          <p:nvPr/>
        </p:nvSpPr>
        <p:spPr>
          <a:xfrm>
            <a:off x="7245350" y="3949700"/>
            <a:ext cx="1270000" cy="2266950"/>
          </a:xfrm>
          <a:prstGeom prst="roundRect">
            <a:avLst>
              <a:gd name="adj" fmla="val 2500"/>
            </a:avLst>
          </a:prstGeom>
          <a:noFill/>
          <a:ln w="12700">
            <a:solidFill>
              <a:srgbClr val="FFB020"/>
            </a:solidFill>
            <a:prstDash val="solid"/>
          </a:ln>
        </p:spPr>
      </p:sp>
      <p:pic>
        <p:nvPicPr>
          <p:cNvPr id="28" name="Image 3" descr="Погрузка и передача гуманитарного груза">    </p:cNvPr>
          <p:cNvPicPr>
            <a:picLocks noChangeAspect="1"/>
          </p:cNvPicPr>
          <p:nvPr/>
        </p:nvPicPr>
        <p:blipFill>
          <a:blip r:embed="rId4"/>
          <a:srcRect l="0" r="0" t="132" b="132"/>
          <a:stretch/>
        </p:blipFill>
        <p:spPr>
          <a:xfrm>
            <a:off x="8686800" y="3956050"/>
            <a:ext cx="2781300" cy="2254250"/>
          </a:xfrm>
          <a:prstGeom prst="roundRect">
            <a:avLst>
              <a:gd name="adj" fmla="val 1127"/>
            </a:avLst>
          </a:prstGeom>
        </p:spPr>
      </p:pic>
      <p:sp>
        <p:nvSpPr>
          <p:cNvPr id="29" name="Shape 23"/>
          <p:cNvSpPr/>
          <p:nvPr/>
        </p:nvSpPr>
        <p:spPr>
          <a:xfrm>
            <a:off x="8680450" y="3949700"/>
            <a:ext cx="2794000" cy="2266950"/>
          </a:xfrm>
          <a:prstGeom prst="roundRect">
            <a:avLst>
              <a:gd name="adj" fmla="val 1401"/>
            </a:avLst>
          </a:prstGeom>
          <a:noFill/>
          <a:ln w="12700">
            <a:solidFill>
              <a:srgbClr val="FFB020"/>
            </a:solidFill>
            <a:prstDash val="solid"/>
          </a:ln>
        </p:spPr>
      </p:sp>
      <p:sp>
        <p:nvSpPr>
          <p:cNvPr id="30" name="Text 24"/>
          <p:cNvSpPr/>
          <p:nvPr/>
        </p:nvSpPr>
        <p:spPr>
          <a:xfrm>
            <a:off x="711200" y="6339841"/>
            <a:ext cx="7194550" cy="238760"/>
          </a:xfrm>
          <a:prstGeom prst="rect">
            <a:avLst/>
          </a:prstGeom>
          <a:noFill/>
          <a:ln/>
        </p:spPr>
        <p:txBody>
          <a:bodyPr wrap="none" lIns="0" tIns="0" rIns="0" bIns="0" rtlCol="0" anchor="t">
            <a:normAutofit/>
          </a:bodyPr>
          <a:lstStyle/>
          <a:p>
            <a:pPr algn="l" indent="0" marL="0">
              <a:lnSpc>
                <a:spcPts val="1680"/>
              </a:lnSpc>
              <a:buNone/>
            </a:pPr>
            <a:r>
              <a:rPr lang="en-US" sz="1200" spc="120" kern="0" dirty="0">
                <a:solidFill>
                  <a:srgbClr val="8C897F"/>
                </a:solidFill>
                <a:latin typeface="IBM Plex Mono" pitchFamily="49" charset="0"/>
                <a:ea typeface="IBM Plex Mono" pitchFamily="49" charset="-122"/>
                <a:cs typeface="IBM Plex Mono" pitchFamily="49" charset="-120"/>
              </a:rPr>
              <a:t>XXIX АКЦИЯ «БЛАГОРОДСТВО» · АЛЕКСАНДР ЧИКИН</a:t>
            </a:r>
            <a:endParaRPr lang="en-US" sz="1200" dirty="0"/>
          </a:p>
        </p:txBody>
      </p:sp>
      <p:sp>
        <p:nvSpPr>
          <p:cNvPr id="31" name="Text 25"/>
          <p:cNvSpPr/>
          <p:nvPr/>
        </p:nvSpPr>
        <p:spPr>
          <a:xfrm>
            <a:off x="10160000" y="63398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spc="120" kern="0" dirty="0">
                <a:solidFill>
                  <a:srgbClr val="8C897F"/>
                </a:solidFill>
                <a:latin typeface="IBM Plex Mono" pitchFamily="49" charset="0"/>
                <a:ea typeface="IBM Plex Mono" pitchFamily="49" charset="-122"/>
                <a:cs typeface="IBM Plex Mono" pitchFamily="49" charset="-120"/>
              </a:rPr>
              <a:t>03 / 11</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D0F"/>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711200" y="609600"/>
            <a:ext cx="5494020" cy="238760"/>
          </a:xfrm>
          <a:prstGeom prst="rect">
            <a:avLst/>
          </a:prstGeom>
          <a:noFill/>
          <a:ln/>
        </p:spPr>
        <p:txBody>
          <a:bodyPr wrap="square" lIns="0" tIns="0" rIns="0" bIns="0" rtlCol="0" anchor="t">
            <a:normAutofit/>
          </a:bodyPr>
          <a:lstStyle/>
          <a:p>
            <a:pPr algn="l" indent="0" marL="0">
              <a:lnSpc>
                <a:spcPts val="1680"/>
              </a:lnSpc>
              <a:buNone/>
            </a:pPr>
            <a:r>
              <a:rPr lang="en-US" sz="1200" b="1" spc="240" kern="0" dirty="0">
                <a:solidFill>
                  <a:srgbClr val="FFB020"/>
                </a:solidFill>
                <a:latin typeface="Exo 2" pitchFamily="34" charset="0"/>
                <a:ea typeface="Exo 2" pitchFamily="34" charset="-122"/>
                <a:cs typeface="Exo 2" pitchFamily="34" charset="-120"/>
              </a:rPr>
              <a:t>ВОЛОНТЁР СВО · АЛЕКСАНДР ЧИКИН</a:t>
            </a:r>
            <a:endParaRPr lang="en-US" sz="1200" dirty="0"/>
          </a:p>
        </p:txBody>
      </p:sp>
      <p:sp>
        <p:nvSpPr>
          <p:cNvPr id="4" name="Text 1"/>
          <p:cNvSpPr/>
          <p:nvPr>
            <p:ph type="title"/>
          </p:nvPr>
        </p:nvSpPr>
        <p:spPr>
          <a:xfrm>
            <a:off x="711200" y="962661"/>
            <a:ext cx="5494020" cy="718820"/>
          </a:xfrm>
          <a:prstGeom prst="rect">
            <a:avLst/>
          </a:prstGeom>
          <a:noFill/>
          <a:ln/>
        </p:spPr>
        <p:txBody>
          <a:bodyPr wrap="square" lIns="0" tIns="0" rIns="0" bIns="0" rtlCol="0" anchor="t">
            <a:normAutofit/>
          </a:bodyPr>
          <a:lstStyle/>
          <a:p>
            <a:pPr algn="l" indent="0" marL="0">
              <a:lnSpc>
                <a:spcPts val="5460"/>
              </a:lnSpc>
              <a:buNone/>
            </a:pPr>
            <a:r>
              <a:rPr lang="en-US" sz="5200" b="0" i="0" dirty="0">
                <a:solidFill>
                  <a:srgbClr val="F2EDE1"/>
                </a:solidFill>
                <a:latin typeface="Russo One" pitchFamily="34" charset="0"/>
                <a:ea typeface="Russo One" pitchFamily="34" charset="-122"/>
                <a:cs typeface="Russo One" pitchFamily="34" charset="-120"/>
              </a:rPr>
              <a:t>Награды</a:t>
            </a:r>
            <a:endParaRPr lang="en-US" sz="5200" dirty="0"/>
          </a:p>
        </p:txBody>
      </p:sp>
      <p:sp>
        <p:nvSpPr>
          <p:cNvPr id="5" name="Shape 2"/>
          <p:cNvSpPr/>
          <p:nvPr/>
        </p:nvSpPr>
        <p:spPr>
          <a:xfrm>
            <a:off x="711200" y="1795780"/>
            <a:ext cx="698500" cy="927100"/>
          </a:xfrm>
          <a:prstGeom prst="roundRect">
            <a:avLst>
              <a:gd name="adj" fmla="val 14545"/>
            </a:avLst>
          </a:prstGeom>
          <a:gradFill rotWithShape="1">
            <a:gsLst>
              <a:gs pos="0">
                <a:srgbClr val="4A4B50"/>
              </a:gs>
              <a:gs pos="100000">
                <a:srgbClr val="1D1E21"/>
              </a:gs>
            </a:gsLst>
            <a:lin ang="5400000" scaled="0"/>
          </a:gradFill>
          <a:ln/>
        </p:spPr>
      </p:sp>
      <p:sp>
        <p:nvSpPr>
          <p:cNvPr id="6" name="Text 3"/>
          <p:cNvSpPr/>
          <p:nvPr/>
        </p:nvSpPr>
        <p:spPr>
          <a:xfrm>
            <a:off x="774700" y="1859280"/>
            <a:ext cx="571500" cy="800100"/>
          </a:xfrm>
          <a:prstGeom prst="roundRect">
            <a:avLst>
              <a:gd name="adj" fmla="val 10000"/>
            </a:avLst>
          </a:pr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5000"/>
              </a:lnSpc>
              <a:buNone/>
            </a:pPr>
            <a:r>
              <a:rPr lang="en-US" sz="5000" dirty="0">
                <a:solidFill>
                  <a:srgbClr val="F2EDE1"/>
                </a:solidFill>
                <a:latin typeface="Russo One" pitchFamily="34" charset="0"/>
                <a:ea typeface="Russo One" pitchFamily="34" charset="-122"/>
                <a:cs typeface="Russo One" pitchFamily="34" charset="-120"/>
              </a:rPr>
              <a:t>4</a:t>
            </a:r>
            <a:endParaRPr lang="en-US" sz="5000" dirty="0"/>
          </a:p>
        </p:txBody>
      </p:sp>
      <p:sp>
        <p:nvSpPr>
          <p:cNvPr id="7" name="Text 4"/>
          <p:cNvSpPr/>
          <p:nvPr/>
        </p:nvSpPr>
        <p:spPr>
          <a:xfrm>
            <a:off x="1587500" y="2124393"/>
            <a:ext cx="3139440" cy="295275"/>
          </a:xfrm>
          <a:prstGeom prst="rect">
            <a:avLst/>
          </a:prstGeom>
          <a:noFill/>
          <a:ln/>
        </p:spPr>
        <p:txBody>
          <a:bodyPr wrap="square" lIns="0" tIns="0" rIns="0" bIns="0" rtlCol="0" anchor="t">
            <a:normAutofit/>
          </a:bodyPr>
          <a:lstStyle/>
          <a:p>
            <a:pPr algn="l" indent="0" marL="0">
              <a:lnSpc>
                <a:spcPts val="2125"/>
              </a:lnSpc>
              <a:buNone/>
            </a:pPr>
            <a:r>
              <a:rPr lang="en-US" sz="1700" dirty="0">
                <a:solidFill>
                  <a:srgbClr val="F2EDE1"/>
                </a:solidFill>
                <a:latin typeface="Exo 2" pitchFamily="34" charset="0"/>
                <a:ea typeface="Exo 2" pitchFamily="34" charset="-122"/>
                <a:cs typeface="Exo 2" pitchFamily="34" charset="-120"/>
              </a:rPr>
              <a:t>памятные медали</a:t>
            </a:r>
            <a:endParaRPr lang="en-US" sz="1700" dirty="0"/>
          </a:p>
        </p:txBody>
      </p:sp>
      <p:sp>
        <p:nvSpPr>
          <p:cNvPr id="8" name="Shape 5"/>
          <p:cNvSpPr/>
          <p:nvPr/>
        </p:nvSpPr>
        <p:spPr>
          <a:xfrm>
            <a:off x="711200" y="2862580"/>
            <a:ext cx="1943100" cy="927100"/>
          </a:xfrm>
          <a:prstGeom prst="roundRect">
            <a:avLst>
              <a:gd name="adj" fmla="val 10959"/>
            </a:avLst>
          </a:prstGeom>
          <a:gradFill rotWithShape="1">
            <a:gsLst>
              <a:gs pos="0">
                <a:srgbClr val="4A4B50"/>
              </a:gs>
              <a:gs pos="100000">
                <a:srgbClr val="1D1E21"/>
              </a:gs>
            </a:gsLst>
            <a:lin ang="5400000" scaled="0"/>
          </a:gradFill>
          <a:ln/>
        </p:spPr>
      </p:sp>
      <p:sp>
        <p:nvSpPr>
          <p:cNvPr id="9" name="Text 6"/>
          <p:cNvSpPr/>
          <p:nvPr/>
        </p:nvSpPr>
        <p:spPr>
          <a:xfrm>
            <a:off x="774700" y="2926080"/>
            <a:ext cx="571500" cy="800100"/>
          </a:xfrm>
          <a:prstGeom prst="roundRect">
            <a:avLst>
              <a:gd name="adj" fmla="val 10000"/>
            </a:avLst>
          </a:pr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5000"/>
              </a:lnSpc>
              <a:buNone/>
            </a:pPr>
            <a:r>
              <a:rPr lang="en-US" sz="5000" dirty="0">
                <a:solidFill>
                  <a:srgbClr val="F2EDE1"/>
                </a:solidFill>
                <a:latin typeface="Russo One" pitchFamily="34" charset="0"/>
                <a:ea typeface="Russo One" pitchFamily="34" charset="-122"/>
                <a:cs typeface="Russo One" pitchFamily="34" charset="-120"/>
              </a:rPr>
              <a:t>1</a:t>
            </a:r>
            <a:endParaRPr lang="en-US" sz="5000" dirty="0"/>
          </a:p>
        </p:txBody>
      </p:sp>
      <p:sp>
        <p:nvSpPr>
          <p:cNvPr id="10" name="Text 7"/>
          <p:cNvSpPr/>
          <p:nvPr/>
        </p:nvSpPr>
        <p:spPr>
          <a:xfrm>
            <a:off x="1397000" y="2926080"/>
            <a:ext cx="571500" cy="800100"/>
          </a:xfrm>
          <a:prstGeom prst="roundRect">
            <a:avLst>
              <a:gd name="adj" fmla="val 10000"/>
            </a:avLst>
          </a:pr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5000"/>
              </a:lnSpc>
              <a:buNone/>
            </a:pPr>
            <a:r>
              <a:rPr lang="en-US" sz="5000" dirty="0">
                <a:solidFill>
                  <a:srgbClr val="F2EDE1"/>
                </a:solidFill>
                <a:latin typeface="Russo One" pitchFamily="34" charset="0"/>
                <a:ea typeface="Russo One" pitchFamily="34" charset="-122"/>
                <a:cs typeface="Russo One" pitchFamily="34" charset="-120"/>
              </a:rPr>
              <a:t>5</a:t>
            </a:r>
            <a:endParaRPr lang="en-US" sz="5000" dirty="0"/>
          </a:p>
        </p:txBody>
      </p:sp>
      <p:sp>
        <p:nvSpPr>
          <p:cNvPr id="11" name="Text 8"/>
          <p:cNvSpPr/>
          <p:nvPr/>
        </p:nvSpPr>
        <p:spPr>
          <a:xfrm>
            <a:off x="2019300" y="2926080"/>
            <a:ext cx="571500" cy="800100"/>
          </a:xfrm>
          <a:prstGeom prst="roundRect">
            <a:avLst>
              <a:gd name="adj" fmla="val 10000"/>
            </a:avLst>
          </a:pr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5000"/>
              </a:lnSpc>
              <a:buNone/>
            </a:pPr>
            <a:r>
              <a:rPr lang="en-US" sz="5000" dirty="0">
                <a:solidFill>
                  <a:srgbClr val="FFB020"/>
                </a:solidFill>
                <a:latin typeface="Russo One" pitchFamily="34" charset="0"/>
                <a:ea typeface="Russo One" pitchFamily="34" charset="-122"/>
                <a:cs typeface="Russo One" pitchFamily="34" charset="-120"/>
              </a:rPr>
              <a:t>+</a:t>
            </a:r>
            <a:endParaRPr lang="en-US" sz="5000" dirty="0"/>
          </a:p>
        </p:txBody>
      </p:sp>
      <p:sp>
        <p:nvSpPr>
          <p:cNvPr id="12" name="Text 9"/>
          <p:cNvSpPr/>
          <p:nvPr/>
        </p:nvSpPr>
        <p:spPr>
          <a:xfrm>
            <a:off x="2832100" y="3056255"/>
            <a:ext cx="3139440" cy="565150"/>
          </a:xfrm>
          <a:prstGeom prst="rect">
            <a:avLst/>
          </a:prstGeom>
          <a:noFill/>
          <a:ln/>
        </p:spPr>
        <p:txBody>
          <a:bodyPr wrap="square" lIns="0" tIns="0" rIns="0" bIns="0" rtlCol="0" anchor="t">
            <a:normAutofit/>
          </a:bodyPr>
          <a:lstStyle/>
          <a:p>
            <a:pPr algn="l" indent="0" marL="0">
              <a:lnSpc>
                <a:spcPts val="2125"/>
              </a:lnSpc>
              <a:buNone/>
            </a:pPr>
            <a:r>
              <a:rPr lang="en-US" sz="1700" dirty="0">
                <a:solidFill>
                  <a:srgbClr val="F2EDE1"/>
                </a:solidFill>
                <a:latin typeface="Exo 2" pitchFamily="34" charset="0"/>
                <a:ea typeface="Exo 2" pitchFamily="34" charset="-122"/>
                <a:cs typeface="Exo 2" pitchFamily="34" charset="-120"/>
              </a:rPr>
              <a:t>благодарственных писем от подразделений в зоне СВО</a:t>
            </a:r>
            <a:endParaRPr lang="en-US" sz="1700" dirty="0"/>
          </a:p>
        </p:txBody>
      </p:sp>
      <p:sp>
        <p:nvSpPr>
          <p:cNvPr id="13" name="Text 10"/>
          <p:cNvSpPr/>
          <p:nvPr/>
        </p:nvSpPr>
        <p:spPr>
          <a:xfrm>
            <a:off x="711200" y="3929380"/>
            <a:ext cx="5494020" cy="2025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CFCABD"/>
                </a:solidFill>
                <a:latin typeface="Exo 2" pitchFamily="34" charset="0"/>
                <a:ea typeface="Exo 2" pitchFamily="34" charset="-122"/>
                <a:cs typeface="Exo 2" pitchFamily="34" charset="-120"/>
              </a:rPr>
              <a:t>Александр Чикин награждён четырьмя памятными медалями, в том числе от председателя Думы городского округа Самара седьмого созыва Дегтева А. П. и от 15-й отдельной гвардейской мотострелковой Александрийского ордена Суворова бригады. Имеет более 15 благодарственных писем от подразделений, находящихся в зоне СВО.</a:t>
            </a:r>
            <a:endParaRPr lang="en-US" sz="1500" dirty="0"/>
          </a:p>
        </p:txBody>
      </p:sp>
      <p:pic>
        <p:nvPicPr>
          <p:cNvPr id="14" name="Image 1" descr="Александр Чикин с благодарственным письмом">    </p:cNvPr>
          <p:cNvPicPr>
            <a:picLocks noChangeAspect="1"/>
          </p:cNvPicPr>
          <p:nvPr/>
        </p:nvPicPr>
        <p:blipFill>
          <a:blip r:embed="rId2"/>
          <a:srcRect l="0" r="0" t="185" b="185"/>
          <a:stretch/>
        </p:blipFill>
        <p:spPr>
          <a:xfrm>
            <a:off x="6489700" y="622300"/>
            <a:ext cx="4978400" cy="3149600"/>
          </a:xfrm>
          <a:prstGeom prst="roundRect">
            <a:avLst>
              <a:gd name="adj" fmla="val 806"/>
            </a:avLst>
          </a:prstGeom>
        </p:spPr>
      </p:pic>
      <p:sp>
        <p:nvSpPr>
          <p:cNvPr id="15" name="Shape 11"/>
          <p:cNvSpPr/>
          <p:nvPr/>
        </p:nvSpPr>
        <p:spPr>
          <a:xfrm>
            <a:off x="6483350" y="615950"/>
            <a:ext cx="4991100" cy="3162300"/>
          </a:xfrm>
          <a:prstGeom prst="roundRect">
            <a:avLst>
              <a:gd name="adj" fmla="val 1004"/>
            </a:avLst>
          </a:prstGeom>
          <a:noFill/>
          <a:ln w="12700">
            <a:solidFill>
              <a:srgbClr val="FFB020"/>
            </a:solidFill>
            <a:prstDash val="solid"/>
          </a:ln>
        </p:spPr>
      </p:sp>
      <p:pic>
        <p:nvPicPr>
          <p:cNvPr id="16" name="Image 2" descr="Александр Чикин с памятной медалью">    </p:cNvPr>
          <p:cNvPicPr>
            <a:picLocks noChangeAspect="1"/>
          </p:cNvPicPr>
          <p:nvPr/>
        </p:nvPicPr>
        <p:blipFill>
          <a:blip r:embed="rId3"/>
          <a:srcRect l="0" r="0" t="46" b="46"/>
          <a:stretch/>
        </p:blipFill>
        <p:spPr>
          <a:xfrm>
            <a:off x="6489700" y="3949700"/>
            <a:ext cx="2387600" cy="2286000"/>
          </a:xfrm>
          <a:prstGeom prst="roundRect">
            <a:avLst>
              <a:gd name="adj" fmla="val 1111"/>
            </a:avLst>
          </a:prstGeom>
        </p:spPr>
      </p:pic>
      <p:sp>
        <p:nvSpPr>
          <p:cNvPr id="17" name="Shape 12"/>
          <p:cNvSpPr/>
          <p:nvPr/>
        </p:nvSpPr>
        <p:spPr>
          <a:xfrm>
            <a:off x="6483350" y="3943350"/>
            <a:ext cx="2400300" cy="2298700"/>
          </a:xfrm>
          <a:prstGeom prst="roundRect">
            <a:avLst>
              <a:gd name="adj" fmla="val 1381"/>
            </a:avLst>
          </a:prstGeom>
          <a:noFill/>
          <a:ln w="12700">
            <a:solidFill>
              <a:srgbClr val="FFB020"/>
            </a:solidFill>
            <a:prstDash val="solid"/>
          </a:ln>
        </p:spPr>
      </p:sp>
      <p:pic>
        <p:nvPicPr>
          <p:cNvPr id="18" name="Image 3" descr="Вручение награды в музейном зале">    </p:cNvPr>
          <p:cNvPicPr>
            <a:picLocks noChangeAspect="1"/>
          </p:cNvPicPr>
          <p:nvPr/>
        </p:nvPicPr>
        <p:blipFill>
          <a:blip r:embed="rId4"/>
          <a:srcRect l="0" r="0" t="23" b="23"/>
          <a:stretch/>
        </p:blipFill>
        <p:spPr>
          <a:xfrm>
            <a:off x="9055100" y="3949700"/>
            <a:ext cx="2413000" cy="2286000"/>
          </a:xfrm>
          <a:prstGeom prst="roundRect">
            <a:avLst>
              <a:gd name="adj" fmla="val 1111"/>
            </a:avLst>
          </a:prstGeom>
        </p:spPr>
      </p:pic>
      <p:sp>
        <p:nvSpPr>
          <p:cNvPr id="19" name="Shape 13"/>
          <p:cNvSpPr/>
          <p:nvPr/>
        </p:nvSpPr>
        <p:spPr>
          <a:xfrm>
            <a:off x="9048750" y="3943350"/>
            <a:ext cx="2425700" cy="2298700"/>
          </a:xfrm>
          <a:prstGeom prst="roundRect">
            <a:avLst>
              <a:gd name="adj" fmla="val 1381"/>
            </a:avLst>
          </a:prstGeom>
          <a:noFill/>
          <a:ln w="12700">
            <a:solidFill>
              <a:srgbClr val="FFB020"/>
            </a:solidFill>
            <a:prstDash val="solid"/>
          </a:ln>
        </p:spPr>
      </p:sp>
      <p:sp>
        <p:nvSpPr>
          <p:cNvPr id="20" name="Text 14"/>
          <p:cNvSpPr/>
          <p:nvPr/>
        </p:nvSpPr>
        <p:spPr>
          <a:xfrm>
            <a:off x="711200" y="6339839"/>
            <a:ext cx="7194550" cy="238760"/>
          </a:xfrm>
          <a:prstGeom prst="rect">
            <a:avLst/>
          </a:prstGeom>
          <a:noFill/>
          <a:ln/>
        </p:spPr>
        <p:txBody>
          <a:bodyPr wrap="none" lIns="0" tIns="0" rIns="0" bIns="0" rtlCol="0" anchor="t">
            <a:normAutofit/>
          </a:bodyPr>
          <a:lstStyle/>
          <a:p>
            <a:pPr algn="l" indent="0" marL="0">
              <a:lnSpc>
                <a:spcPts val="1680"/>
              </a:lnSpc>
              <a:buNone/>
            </a:pPr>
            <a:r>
              <a:rPr lang="en-US" sz="1200" spc="120" kern="0" dirty="0">
                <a:solidFill>
                  <a:srgbClr val="8C897F"/>
                </a:solidFill>
                <a:latin typeface="IBM Plex Mono" pitchFamily="49" charset="0"/>
                <a:ea typeface="IBM Plex Mono" pitchFamily="49" charset="-122"/>
                <a:cs typeface="IBM Plex Mono" pitchFamily="49" charset="-120"/>
              </a:rPr>
              <a:t>XXIX АКЦИЯ «БЛАГОРОДСТВО» · АЛЕКСАНДР ЧИКИН</a:t>
            </a:r>
            <a:endParaRPr lang="en-US" sz="1200" dirty="0"/>
          </a:p>
        </p:txBody>
      </p:sp>
      <p:sp>
        <p:nvSpPr>
          <p:cNvPr id="21" name="Text 15"/>
          <p:cNvSpPr/>
          <p:nvPr/>
        </p:nvSpPr>
        <p:spPr>
          <a:xfrm>
            <a:off x="10160000" y="63398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spc="120" kern="0" dirty="0">
                <a:solidFill>
                  <a:srgbClr val="8C897F"/>
                </a:solidFill>
                <a:latin typeface="IBM Plex Mono" pitchFamily="49" charset="0"/>
                <a:ea typeface="IBM Plex Mono" pitchFamily="49" charset="-122"/>
                <a:cs typeface="IBM Plex Mono" pitchFamily="49" charset="-120"/>
              </a:rPr>
              <a:t>04 / 11</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D0F"/>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711200" y="609600"/>
            <a:ext cx="6658229" cy="238760"/>
          </a:xfrm>
          <a:prstGeom prst="rect">
            <a:avLst/>
          </a:prstGeom>
          <a:noFill/>
          <a:ln/>
        </p:spPr>
        <p:txBody>
          <a:bodyPr wrap="square" lIns="0" tIns="0" rIns="0" bIns="0" rtlCol="0" anchor="t">
            <a:normAutofit/>
          </a:bodyPr>
          <a:lstStyle/>
          <a:p>
            <a:pPr algn="l" indent="0" marL="0">
              <a:lnSpc>
                <a:spcPts val="1680"/>
              </a:lnSpc>
              <a:buNone/>
            </a:pPr>
            <a:r>
              <a:rPr lang="en-US" sz="1200" b="1" spc="215" kern="0" dirty="0">
                <a:solidFill>
                  <a:srgbClr val="FFB020"/>
                </a:solidFill>
                <a:latin typeface="Exo 2" pitchFamily="34" charset="0"/>
                <a:ea typeface="Exo 2" pitchFamily="34" charset="-122"/>
                <a:cs typeface="Exo 2" pitchFamily="34" charset="-120"/>
              </a:rPr>
              <a:t>СЪЁМКИ В КИНО · ФОНД «СОТВОРЕНИЕ»</a:t>
            </a:r>
            <a:endParaRPr lang="en-US" sz="1200" dirty="0"/>
          </a:p>
        </p:txBody>
      </p:sp>
      <p:sp>
        <p:nvSpPr>
          <p:cNvPr id="4" name="Text 1"/>
          <p:cNvSpPr/>
          <p:nvPr>
            <p:ph type="title"/>
          </p:nvPr>
        </p:nvSpPr>
        <p:spPr>
          <a:xfrm>
            <a:off x="711200" y="924561"/>
            <a:ext cx="6658229" cy="601424"/>
          </a:xfrm>
          <a:prstGeom prst="rect">
            <a:avLst/>
          </a:prstGeom>
          <a:noFill/>
          <a:ln/>
        </p:spPr>
        <p:txBody>
          <a:bodyPr wrap="square" lIns="0" tIns="0" rIns="0" bIns="0" rtlCol="0" anchor="t">
            <a:normAutofit/>
          </a:bodyPr>
          <a:lstStyle/>
          <a:p>
            <a:pPr algn="l" indent="0" marL="0">
              <a:lnSpc>
                <a:spcPts val="4536"/>
              </a:lnSpc>
              <a:buNone/>
            </a:pPr>
            <a:r>
              <a:rPr lang="en-US" sz="4200" b="0" i="0" dirty="0">
                <a:solidFill>
                  <a:srgbClr val="F2EDE1"/>
                </a:solidFill>
                <a:latin typeface="Russo One" pitchFamily="34" charset="0"/>
                <a:ea typeface="Russo One" pitchFamily="34" charset="-122"/>
                <a:cs typeface="Russo One" pitchFamily="34" charset="-120"/>
              </a:rPr>
              <a:t>Фильм «Подсветка»</a:t>
            </a:r>
            <a:endParaRPr lang="en-US" sz="4200" dirty="0"/>
          </a:p>
        </p:txBody>
      </p:sp>
      <p:sp>
        <p:nvSpPr>
          <p:cNvPr id="5" name="Text 2"/>
          <p:cNvSpPr/>
          <p:nvPr/>
        </p:nvSpPr>
        <p:spPr>
          <a:xfrm>
            <a:off x="711200" y="1602184"/>
            <a:ext cx="665822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FCABD"/>
                </a:solidFill>
                <a:latin typeface="Exo 2" pitchFamily="34" charset="0"/>
                <a:ea typeface="Exo 2" pitchFamily="34" charset="-122"/>
                <a:cs typeface="Exo 2" pitchFamily="34" charset="-120"/>
              </a:rPr>
              <a:t>Принял участие в съёмках двух детских игровых фильмов Фонда развития детского кино «Сотворение» на тему СВО.</a:t>
            </a:r>
            <a:endParaRPr lang="en-US" sz="1400" dirty="0"/>
          </a:p>
        </p:txBody>
      </p:sp>
      <p:sp>
        <p:nvSpPr>
          <p:cNvPr id="6" name="Text 3"/>
          <p:cNvSpPr/>
          <p:nvPr/>
        </p:nvSpPr>
        <p:spPr>
          <a:xfrm>
            <a:off x="711200" y="2201624"/>
            <a:ext cx="6658229" cy="256540"/>
          </a:xfrm>
          <a:prstGeom prst="rect">
            <a:avLst/>
          </a:prstGeom>
          <a:noFill/>
          <a:ln/>
        </p:spPr>
        <p:txBody>
          <a:bodyPr wrap="square" lIns="0" tIns="0" rIns="0" bIns="0" rtlCol="0" anchor="t">
            <a:normAutofit/>
          </a:bodyPr>
          <a:lstStyle/>
          <a:p>
            <a:pPr algn="l" indent="0" marL="0">
              <a:lnSpc>
                <a:spcPts val="1820"/>
              </a:lnSpc>
              <a:buNone/>
            </a:pPr>
            <a:r>
              <a:rPr lang="en-US" sz="1300" spc="50" kern="0" dirty="0">
                <a:solidFill>
                  <a:srgbClr val="FFB020"/>
                </a:solidFill>
                <a:latin typeface="IBM Plex Mono" pitchFamily="49" charset="0"/>
                <a:ea typeface="IBM Plex Mono" pitchFamily="49" charset="-122"/>
                <a:cs typeface="IBM Plex Mono" pitchFamily="49" charset="-120"/>
              </a:rPr>
              <a:t>2024 г. · завоевал 5 кинофестивальных наград</a:t>
            </a:r>
            <a:endParaRPr lang="en-US" sz="1300" dirty="0"/>
          </a:p>
        </p:txBody>
      </p:sp>
      <p:sp>
        <p:nvSpPr>
          <p:cNvPr id="7" name="Text 4"/>
          <p:cNvSpPr/>
          <p:nvPr/>
        </p:nvSpPr>
        <p:spPr>
          <a:xfrm>
            <a:off x="711200" y="2534366"/>
            <a:ext cx="6658229" cy="238760"/>
          </a:xfrm>
          <a:prstGeom prst="rect">
            <a:avLst/>
          </a:prstGeom>
          <a:noFill/>
          <a:ln/>
        </p:spPr>
        <p:txBody>
          <a:bodyPr wrap="square" lIns="0" tIns="0" rIns="0" bIns="0" rtlCol="0" anchor="t">
            <a:normAutofit/>
          </a:bodyPr>
          <a:lstStyle/>
          <a:p>
            <a:pPr algn="l" indent="0" marL="0">
              <a:lnSpc>
                <a:spcPts val="1680"/>
              </a:lnSpc>
              <a:buNone/>
            </a:pPr>
            <a:r>
              <a:rPr lang="en-US" sz="1200" u="sng" spc="25" kern="0" dirty="0">
                <a:solidFill>
                  <a:srgbClr val="FFB020"/>
                </a:solidFill>
                <a:latin typeface="IBM Plex Mono" pitchFamily="49" charset="0"/>
                <a:ea typeface="IBM Plex Mono" pitchFamily="49" charset="-122"/>
                <a:cs typeface="IBM Plex Mono" pitchFamily="49" charset="-120"/>
                <a:hlinkClick r:id="rId2" invalidUrl="" action="" tgtFrame="" tooltip="" history="1" highlightClick="0" endSnd="0">
                  <a:extLst>
                    <a:ext uri="{A12FA001-AC4F-418D-AE19-62706E023703}">
                      <ahyp:hlinkClr xmlns:ahyp="http://schemas.microsoft.com/office/drawing/2018/hyperlinkcolor" val="tx"/>
                    </a:ext>
                  </a:extLst>
                </a:hlinkClick>
              </a:rPr>
              <a:t>https://vkvideo.ru/video-39266843_456241114</a:t>
            </a:r>
            <a:endParaRPr lang="en-US" sz="1200" dirty="0"/>
          </a:p>
        </p:txBody>
      </p:sp>
      <p:sp>
        <p:nvSpPr>
          <p:cNvPr id="8" name="Text 5"/>
          <p:cNvSpPr/>
          <p:nvPr/>
        </p:nvSpPr>
        <p:spPr>
          <a:xfrm>
            <a:off x="711200" y="2849324"/>
            <a:ext cx="406400" cy="406400"/>
          </a:xfrm>
          <a:prstGeom prst="roundRect">
            <a:avLst>
              <a:gd name="adj" fmla="val 12500"/>
            </a:avLst>
          </a:pr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2000"/>
              </a:lnSpc>
              <a:buNone/>
            </a:pPr>
            <a:r>
              <a:rPr lang="en-US" sz="2000" dirty="0">
                <a:solidFill>
                  <a:srgbClr val="FFB020"/>
                </a:solidFill>
                <a:latin typeface="Russo One" pitchFamily="34" charset="0"/>
                <a:ea typeface="Russo One" pitchFamily="34" charset="-122"/>
                <a:cs typeface="Russo One" pitchFamily="34" charset="-120"/>
              </a:rPr>
              <a:t>1</a:t>
            </a:r>
            <a:endParaRPr lang="en-US" sz="2000" dirty="0"/>
          </a:p>
        </p:txBody>
      </p:sp>
      <p:sp>
        <p:nvSpPr>
          <p:cNvPr id="9" name="Text 6"/>
          <p:cNvSpPr/>
          <p:nvPr/>
        </p:nvSpPr>
        <p:spPr>
          <a:xfrm>
            <a:off x="1257300" y="2849324"/>
            <a:ext cx="6082665"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6E0D2"/>
                </a:solidFill>
                <a:latin typeface="Exo 2" pitchFamily="34" charset="0"/>
                <a:ea typeface="Exo 2" pitchFamily="34" charset="-122"/>
                <a:cs typeface="Exo 2" pitchFamily="34" charset="-120"/>
              </a:rPr>
              <a:t>XV Фестиваль детского кино и телевидения «Веселая ларга» — лауреат 1 степени, г. Владивосток.</a:t>
            </a:r>
            <a:endParaRPr lang="en-US" sz="1300" dirty="0"/>
          </a:p>
        </p:txBody>
      </p:sp>
      <p:sp>
        <p:nvSpPr>
          <p:cNvPr id="10" name="Text 7"/>
          <p:cNvSpPr/>
          <p:nvPr/>
        </p:nvSpPr>
        <p:spPr>
          <a:xfrm>
            <a:off x="711200" y="3409395"/>
            <a:ext cx="406400" cy="406400"/>
          </a:xfrm>
          <a:prstGeom prst="roundRect">
            <a:avLst>
              <a:gd name="adj" fmla="val 12500"/>
            </a:avLst>
          </a:pr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2000"/>
              </a:lnSpc>
              <a:buNone/>
            </a:pPr>
            <a:r>
              <a:rPr lang="en-US" sz="2000" dirty="0">
                <a:solidFill>
                  <a:srgbClr val="FFB020"/>
                </a:solidFill>
                <a:latin typeface="Russo One" pitchFamily="34" charset="0"/>
                <a:ea typeface="Russo One" pitchFamily="34" charset="-122"/>
                <a:cs typeface="Russo One" pitchFamily="34" charset="-120"/>
              </a:rPr>
              <a:t>2</a:t>
            </a:r>
            <a:endParaRPr lang="en-US" sz="2000" dirty="0"/>
          </a:p>
        </p:txBody>
      </p:sp>
      <p:sp>
        <p:nvSpPr>
          <p:cNvPr id="11" name="Text 8"/>
          <p:cNvSpPr/>
          <p:nvPr/>
        </p:nvSpPr>
        <p:spPr>
          <a:xfrm>
            <a:off x="1257300" y="3409395"/>
            <a:ext cx="6082665"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6E0D2"/>
                </a:solidFill>
                <a:latin typeface="Exo 2" pitchFamily="34" charset="0"/>
                <a:ea typeface="Exo 2" pitchFamily="34" charset="-122"/>
                <a:cs typeface="Exo 2" pitchFamily="34" charset="-120"/>
              </a:rPr>
              <a:t>Лауреат программы «Гордость России» IV Международного кинофестиваля «День Победы», г. Москва.</a:t>
            </a:r>
            <a:endParaRPr lang="en-US" sz="1300" dirty="0"/>
          </a:p>
        </p:txBody>
      </p:sp>
      <p:sp>
        <p:nvSpPr>
          <p:cNvPr id="12" name="Text 9"/>
          <p:cNvSpPr/>
          <p:nvPr/>
        </p:nvSpPr>
        <p:spPr>
          <a:xfrm>
            <a:off x="711200" y="3969466"/>
            <a:ext cx="406400" cy="406400"/>
          </a:xfrm>
          <a:prstGeom prst="roundRect">
            <a:avLst>
              <a:gd name="adj" fmla="val 12500"/>
            </a:avLst>
          </a:pr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2000"/>
              </a:lnSpc>
              <a:buNone/>
            </a:pPr>
            <a:r>
              <a:rPr lang="en-US" sz="2000" dirty="0">
                <a:solidFill>
                  <a:srgbClr val="FFB020"/>
                </a:solidFill>
                <a:latin typeface="Russo One" pitchFamily="34" charset="0"/>
                <a:ea typeface="Russo One" pitchFamily="34" charset="-122"/>
                <a:cs typeface="Russo One" pitchFamily="34" charset="-120"/>
              </a:rPr>
              <a:t>3</a:t>
            </a:r>
            <a:endParaRPr lang="en-US" sz="2000" dirty="0"/>
          </a:p>
        </p:txBody>
      </p:sp>
      <p:sp>
        <p:nvSpPr>
          <p:cNvPr id="13" name="Text 10"/>
          <p:cNvSpPr/>
          <p:nvPr/>
        </p:nvSpPr>
        <p:spPr>
          <a:xfrm>
            <a:off x="1257300" y="3969466"/>
            <a:ext cx="6082665" cy="69405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6E0D2"/>
                </a:solidFill>
                <a:latin typeface="Exo 2" pitchFamily="34" charset="0"/>
                <a:ea typeface="Exo 2" pitchFamily="34" charset="-122"/>
                <a:cs typeface="Exo 2" pitchFamily="34" charset="-120"/>
              </a:rPr>
              <a:t>XIX Московский межрегиональный фестиваль-конкурс «Алтарь Отечества-2025» с международным участием — лауреат 1 степени в номинации «Игровой фильм», г. Москва.</a:t>
            </a:r>
            <a:endParaRPr lang="en-US" sz="1300" dirty="0"/>
          </a:p>
        </p:txBody>
      </p:sp>
      <p:sp>
        <p:nvSpPr>
          <p:cNvPr id="14" name="Text 11"/>
          <p:cNvSpPr/>
          <p:nvPr/>
        </p:nvSpPr>
        <p:spPr>
          <a:xfrm>
            <a:off x="711200" y="4752420"/>
            <a:ext cx="406400" cy="406400"/>
          </a:xfrm>
          <a:prstGeom prst="roundRect">
            <a:avLst>
              <a:gd name="adj" fmla="val 12500"/>
            </a:avLst>
          </a:pr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2000"/>
              </a:lnSpc>
              <a:buNone/>
            </a:pPr>
            <a:r>
              <a:rPr lang="en-US" sz="2000" dirty="0">
                <a:solidFill>
                  <a:srgbClr val="FFB020"/>
                </a:solidFill>
                <a:latin typeface="Russo One" pitchFamily="34" charset="0"/>
                <a:ea typeface="Russo One" pitchFamily="34" charset="-122"/>
                <a:cs typeface="Russo One" pitchFamily="34" charset="-120"/>
              </a:rPr>
              <a:t>4</a:t>
            </a:r>
            <a:endParaRPr lang="en-US" sz="2000" dirty="0"/>
          </a:p>
        </p:txBody>
      </p:sp>
      <p:sp>
        <p:nvSpPr>
          <p:cNvPr id="15" name="Text 12"/>
          <p:cNvSpPr/>
          <p:nvPr/>
        </p:nvSpPr>
        <p:spPr>
          <a:xfrm>
            <a:off x="1257300" y="4752420"/>
            <a:ext cx="6082665"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6E0D2"/>
                </a:solidFill>
                <a:latin typeface="Exo 2" pitchFamily="34" charset="0"/>
                <a:ea typeface="Exo 2" pitchFamily="34" charset="-122"/>
                <a:cs typeface="Exo 2" pitchFamily="34" charset="-120"/>
              </a:rPr>
              <a:t>XXVII Всероссийский ежегодный открытый фестиваль экранного творчества детей «Весенняя капель-2025» — диплом 1 степени, г. Липецк.</a:t>
            </a:r>
            <a:endParaRPr lang="en-US" sz="1300" dirty="0"/>
          </a:p>
        </p:txBody>
      </p:sp>
      <p:sp>
        <p:nvSpPr>
          <p:cNvPr id="16" name="Text 13"/>
          <p:cNvSpPr/>
          <p:nvPr/>
        </p:nvSpPr>
        <p:spPr>
          <a:xfrm>
            <a:off x="711200" y="5312491"/>
            <a:ext cx="406400" cy="406400"/>
          </a:xfrm>
          <a:prstGeom prst="roundRect">
            <a:avLst>
              <a:gd name="adj" fmla="val 12500"/>
            </a:avLst>
          </a:pr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2000"/>
              </a:lnSpc>
              <a:buNone/>
            </a:pPr>
            <a:r>
              <a:rPr lang="en-US" sz="2000" dirty="0">
                <a:solidFill>
                  <a:srgbClr val="FFB020"/>
                </a:solidFill>
                <a:latin typeface="Russo One" pitchFamily="34" charset="0"/>
                <a:ea typeface="Russo One" pitchFamily="34" charset="-122"/>
                <a:cs typeface="Russo One" pitchFamily="34" charset="-120"/>
              </a:rPr>
              <a:t>5</a:t>
            </a:r>
            <a:endParaRPr lang="en-US" sz="2000" dirty="0"/>
          </a:p>
        </p:txBody>
      </p:sp>
      <p:sp>
        <p:nvSpPr>
          <p:cNvPr id="17" name="Text 14"/>
          <p:cNvSpPr/>
          <p:nvPr/>
        </p:nvSpPr>
        <p:spPr>
          <a:xfrm>
            <a:off x="1257300" y="5312491"/>
            <a:ext cx="6082665"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6E0D2"/>
                </a:solidFill>
                <a:latin typeface="Exo 2" pitchFamily="34" charset="0"/>
                <a:ea typeface="Exo 2" pitchFamily="34" charset="-122"/>
                <a:cs typeface="Exo 2" pitchFamily="34" charset="-120"/>
              </a:rPr>
              <a:t>VII Всероссийский Герасимовский киноконкурс «В начале славных дел» (2025) — дипломант в номинации «Молодая гвардия».</a:t>
            </a:r>
            <a:endParaRPr lang="en-US" sz="1300" dirty="0"/>
          </a:p>
        </p:txBody>
      </p:sp>
      <p:pic>
        <p:nvPicPr>
          <p:cNvPr id="18" name="Image 1" descr="Съёмочная группа фильма «Подсветка» на площадке">    </p:cNvPr>
          <p:cNvPicPr>
            <a:picLocks noChangeAspect="1"/>
          </p:cNvPicPr>
          <p:nvPr/>
        </p:nvPicPr>
        <p:blipFill>
          <a:blip r:embed="rId3"/>
          <a:srcRect l="91" r="91" t="0" b="0"/>
          <a:stretch/>
        </p:blipFill>
        <p:spPr>
          <a:xfrm>
            <a:off x="7569200" y="622300"/>
            <a:ext cx="3898900" cy="5613400"/>
          </a:xfrm>
          <a:prstGeom prst="roundRect">
            <a:avLst>
              <a:gd name="adj" fmla="val 651"/>
            </a:avLst>
          </a:prstGeom>
        </p:spPr>
      </p:pic>
      <p:sp>
        <p:nvSpPr>
          <p:cNvPr id="19" name="Shape 15"/>
          <p:cNvSpPr/>
          <p:nvPr/>
        </p:nvSpPr>
        <p:spPr>
          <a:xfrm>
            <a:off x="7562850" y="615950"/>
            <a:ext cx="3911600" cy="5626100"/>
          </a:xfrm>
          <a:prstGeom prst="roundRect">
            <a:avLst>
              <a:gd name="adj" fmla="val 812"/>
            </a:avLst>
          </a:prstGeom>
          <a:noFill/>
          <a:ln w="12700">
            <a:solidFill>
              <a:srgbClr val="FFB020"/>
            </a:solidFill>
            <a:prstDash val="solid"/>
          </a:ln>
        </p:spPr>
      </p:sp>
      <p:sp>
        <p:nvSpPr>
          <p:cNvPr id="20" name="Text 16"/>
          <p:cNvSpPr/>
          <p:nvPr/>
        </p:nvSpPr>
        <p:spPr>
          <a:xfrm>
            <a:off x="711200" y="6339839"/>
            <a:ext cx="7194550" cy="238760"/>
          </a:xfrm>
          <a:prstGeom prst="rect">
            <a:avLst/>
          </a:prstGeom>
          <a:noFill/>
          <a:ln/>
        </p:spPr>
        <p:txBody>
          <a:bodyPr wrap="none" lIns="0" tIns="0" rIns="0" bIns="0" rtlCol="0" anchor="t">
            <a:normAutofit/>
          </a:bodyPr>
          <a:lstStyle/>
          <a:p>
            <a:pPr algn="l" indent="0" marL="0">
              <a:lnSpc>
                <a:spcPts val="1680"/>
              </a:lnSpc>
              <a:buNone/>
            </a:pPr>
            <a:r>
              <a:rPr lang="en-US" sz="1200" spc="120" kern="0" dirty="0">
                <a:solidFill>
                  <a:srgbClr val="8C897F"/>
                </a:solidFill>
                <a:latin typeface="IBM Plex Mono" pitchFamily="49" charset="0"/>
                <a:ea typeface="IBM Plex Mono" pitchFamily="49" charset="-122"/>
                <a:cs typeface="IBM Plex Mono" pitchFamily="49" charset="-120"/>
              </a:rPr>
              <a:t>XXIX АКЦИЯ «БЛАГОРОДСТВО» · АЛЕКСАНДР ЧИКИН</a:t>
            </a:r>
            <a:endParaRPr lang="en-US" sz="1200" dirty="0"/>
          </a:p>
        </p:txBody>
      </p:sp>
      <p:sp>
        <p:nvSpPr>
          <p:cNvPr id="21" name="Text 17"/>
          <p:cNvSpPr/>
          <p:nvPr/>
        </p:nvSpPr>
        <p:spPr>
          <a:xfrm>
            <a:off x="10160000" y="63398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spc="120" kern="0" dirty="0">
                <a:solidFill>
                  <a:srgbClr val="8C897F"/>
                </a:solidFill>
                <a:latin typeface="IBM Plex Mono" pitchFamily="49" charset="0"/>
                <a:ea typeface="IBM Plex Mono" pitchFamily="49" charset="-122"/>
                <a:cs typeface="IBM Plex Mono" pitchFamily="49" charset="-120"/>
              </a:rPr>
              <a:t>05 / 11</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B020"/>
        </a:solidFill>
      </p:bgPr>
    </p:bg>
    <p:spTree>
      <p:nvGrpSpPr>
        <p:cNvPr id="1" name=""/>
        <p:cNvGrpSpPr/>
        <p:nvPr/>
      </p:nvGrpSpPr>
      <p:grpSpPr>
        <a:xfrm>
          <a:off x="0" y="0"/>
          <a:ext cx="0" cy="0"/>
          <a:chOff x="0" y="0"/>
          <a:chExt cx="0" cy="0"/>
        </a:xfrm>
      </p:grpSpPr>
      <p:pic>
        <p:nvPicPr>
          <p:cNvPr id="2" name="Image 0" desc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711200" y="609600"/>
            <a:ext cx="6658229" cy="238760"/>
          </a:xfrm>
          <a:prstGeom prst="rect">
            <a:avLst/>
          </a:prstGeom>
          <a:noFill/>
          <a:ln/>
        </p:spPr>
        <p:txBody>
          <a:bodyPr wrap="square" lIns="0" tIns="0" rIns="0" bIns="0" rtlCol="0" anchor="t">
            <a:normAutofit/>
          </a:bodyPr>
          <a:lstStyle/>
          <a:p>
            <a:pPr algn="l" indent="0" marL="0">
              <a:lnSpc>
                <a:spcPts val="1680"/>
              </a:lnSpc>
              <a:buNone/>
            </a:pPr>
            <a:r>
              <a:rPr lang="en-US" sz="1200" b="1" spc="215" kern="0" dirty="0">
                <a:solidFill>
                  <a:srgbClr val="0C0D0F"/>
                </a:solidFill>
                <a:latin typeface="Exo 2" pitchFamily="34" charset="0"/>
                <a:ea typeface="Exo 2" pitchFamily="34" charset="-122"/>
                <a:cs typeface="Exo 2" pitchFamily="34" charset="-120"/>
              </a:rPr>
              <a:t>СЪЁМКИ В КИНО · ФОНД «СОТВОРЕНИЕ»</a:t>
            </a:r>
            <a:endParaRPr lang="en-US" sz="1200" dirty="0"/>
          </a:p>
        </p:txBody>
      </p:sp>
      <p:sp>
        <p:nvSpPr>
          <p:cNvPr id="4" name="Text 1"/>
          <p:cNvSpPr/>
          <p:nvPr>
            <p:ph type="title"/>
          </p:nvPr>
        </p:nvSpPr>
        <p:spPr>
          <a:xfrm>
            <a:off x="711200" y="924561"/>
            <a:ext cx="6658229" cy="601424"/>
          </a:xfrm>
          <a:prstGeom prst="rect">
            <a:avLst/>
          </a:prstGeom>
          <a:noFill/>
          <a:ln/>
        </p:spPr>
        <p:txBody>
          <a:bodyPr wrap="square" lIns="0" tIns="0" rIns="0" bIns="0" rtlCol="0" anchor="t">
            <a:normAutofit/>
          </a:bodyPr>
          <a:lstStyle/>
          <a:p>
            <a:pPr algn="l" indent="0" marL="0">
              <a:lnSpc>
                <a:spcPts val="4536"/>
              </a:lnSpc>
              <a:buNone/>
            </a:pPr>
            <a:r>
              <a:rPr lang="en-US" sz="4200" b="0" i="0" dirty="0">
                <a:solidFill>
                  <a:srgbClr val="0C0D0F"/>
                </a:solidFill>
                <a:latin typeface="Russo One" pitchFamily="34" charset="0"/>
                <a:ea typeface="Russo One" pitchFamily="34" charset="-122"/>
                <a:cs typeface="Russo One" pitchFamily="34" charset="-120"/>
              </a:rPr>
              <a:t>Фильм «День отца»</a:t>
            </a:r>
            <a:endParaRPr lang="en-US" sz="4200" dirty="0"/>
          </a:p>
        </p:txBody>
      </p:sp>
      <p:sp>
        <p:nvSpPr>
          <p:cNvPr id="5" name="Text 2"/>
          <p:cNvSpPr/>
          <p:nvPr/>
        </p:nvSpPr>
        <p:spPr>
          <a:xfrm>
            <a:off x="711200" y="1602184"/>
            <a:ext cx="6658229"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C0D0F"/>
                </a:solidFill>
                <a:latin typeface="Exo 2" pitchFamily="34" charset="0"/>
                <a:ea typeface="Exo 2" pitchFamily="34" charset="-122"/>
                <a:cs typeface="Exo 2" pitchFamily="34" charset="-120"/>
              </a:rPr>
              <a:t>Второй детский игровой фильм Фонда развития детского кино «Сотворение» с участием Александра.</a:t>
            </a:r>
            <a:endParaRPr lang="en-US" sz="1400" dirty="0"/>
          </a:p>
        </p:txBody>
      </p:sp>
      <p:sp>
        <p:nvSpPr>
          <p:cNvPr id="6" name="Text 3"/>
          <p:cNvSpPr/>
          <p:nvPr/>
        </p:nvSpPr>
        <p:spPr>
          <a:xfrm>
            <a:off x="711200" y="2201624"/>
            <a:ext cx="6658229" cy="256540"/>
          </a:xfrm>
          <a:prstGeom prst="rect">
            <a:avLst/>
          </a:prstGeom>
          <a:noFill/>
          <a:ln/>
        </p:spPr>
        <p:txBody>
          <a:bodyPr wrap="square" lIns="0" tIns="0" rIns="0" bIns="0" rtlCol="0" anchor="t">
            <a:normAutofit/>
          </a:bodyPr>
          <a:lstStyle/>
          <a:p>
            <a:pPr algn="l" indent="0" marL="0">
              <a:lnSpc>
                <a:spcPts val="1820"/>
              </a:lnSpc>
              <a:buNone/>
            </a:pPr>
            <a:r>
              <a:rPr lang="en-US" sz="1300" spc="50" kern="0" dirty="0">
                <a:solidFill>
                  <a:srgbClr val="0C0D0F"/>
                </a:solidFill>
                <a:latin typeface="IBM Plex Mono" pitchFamily="49" charset="0"/>
                <a:ea typeface="IBM Plex Mono" pitchFamily="49" charset="-122"/>
                <a:cs typeface="IBM Plex Mono" pitchFamily="49" charset="-120"/>
              </a:rPr>
              <a:t>2026 г. · награды кинофестивалей</a:t>
            </a:r>
            <a:endParaRPr lang="en-US" sz="1300" dirty="0"/>
          </a:p>
        </p:txBody>
      </p:sp>
      <p:sp>
        <p:nvSpPr>
          <p:cNvPr id="7" name="Text 4"/>
          <p:cNvSpPr/>
          <p:nvPr/>
        </p:nvSpPr>
        <p:spPr>
          <a:xfrm>
            <a:off x="711200" y="2534366"/>
            <a:ext cx="6658229" cy="238760"/>
          </a:xfrm>
          <a:prstGeom prst="rect">
            <a:avLst/>
          </a:prstGeom>
          <a:noFill/>
          <a:ln/>
        </p:spPr>
        <p:txBody>
          <a:bodyPr wrap="square" lIns="0" tIns="0" rIns="0" bIns="0" rtlCol="0" anchor="t">
            <a:normAutofit/>
          </a:bodyPr>
          <a:lstStyle/>
          <a:p>
            <a:pPr algn="l" indent="0" marL="0">
              <a:lnSpc>
                <a:spcPts val="1680"/>
              </a:lnSpc>
              <a:buNone/>
            </a:pPr>
            <a:r>
              <a:rPr lang="en-US" sz="1200" u="sng" spc="25" kern="0" dirty="0">
                <a:solidFill>
                  <a:srgbClr val="0C0D0F"/>
                </a:solidFill>
                <a:latin typeface="IBM Plex Mono" pitchFamily="49" charset="0"/>
                <a:ea typeface="IBM Plex Mono" pitchFamily="49" charset="-122"/>
                <a:cs typeface="IBM Plex Mono" pitchFamily="49" charset="-120"/>
                <a:hlinkClick r:id="rId2" invalidUrl="" action="" tgtFrame="" tooltip="" history="1" highlightClick="0" endSnd="0">
                  <a:extLst>
                    <a:ext uri="{A12FA001-AC4F-418D-AE19-62706E023703}">
                      <ahyp:hlinkClr xmlns:ahyp="http://schemas.microsoft.com/office/drawing/2018/hyperlinkcolor" val="tx"/>
                    </a:ext>
                  </a:extLst>
                </a:hlinkClick>
              </a:rPr>
              <a:t>https://disk.yandex.ru/i/Gd9JOhB2C0nVcQ</a:t>
            </a:r>
            <a:endParaRPr lang="en-US" sz="1200" dirty="0"/>
          </a:p>
        </p:txBody>
      </p:sp>
      <p:sp>
        <p:nvSpPr>
          <p:cNvPr id="8" name="Shape 5"/>
          <p:cNvSpPr/>
          <p:nvPr/>
        </p:nvSpPr>
        <p:spPr>
          <a:xfrm>
            <a:off x="711200" y="3039824"/>
            <a:ext cx="6464300" cy="2870000"/>
          </a:xfrm>
          <a:prstGeom prst="roundRect">
            <a:avLst>
              <a:gd name="adj" fmla="val 3905"/>
            </a:avLst>
          </a:prstGeom>
          <a:solidFill>
            <a:srgbClr val="0C0D0F"/>
          </a:solidFill>
          <a:ln/>
        </p:spPr>
      </p:sp>
      <p:sp>
        <p:nvSpPr>
          <p:cNvPr id="9" name="Text 6"/>
          <p:cNvSpPr/>
          <p:nvPr/>
        </p:nvSpPr>
        <p:spPr>
          <a:xfrm>
            <a:off x="990600" y="3230000"/>
            <a:ext cx="6082665" cy="620000"/>
          </a:xfrm>
          <a:prstGeom prst="rect">
            <a:avLst/>
          </a:prstGeom>
          <a:noFill/>
          <a:ln/>
        </p:spPr>
        <p:txBody>
          <a:bodyPr wrap="none" lIns="0" tIns="0" rIns="0" bIns="0" rtlCol="0" anchor="t">
            <a:normAutofit/>
          </a:bodyPr>
          <a:lstStyle/>
          <a:p>
            <a:pPr algn="l" indent="0" marL="0">
              <a:lnSpc>
                <a:spcPts val="4600"/>
              </a:lnSpc>
              <a:buNone/>
            </a:pPr>
            <a:r>
              <a:rPr lang="en-US" sz="4400" dirty="0">
                <a:solidFill>
                  <a:srgbClr val="FFB020"/>
                </a:solidFill>
                <a:latin typeface="Russo One" pitchFamily="34" charset="0"/>
                <a:ea typeface="Russo One" pitchFamily="34" charset="-122"/>
                <a:cs typeface="Russo One" pitchFamily="34" charset="-120"/>
              </a:rPr>
              <a:t>ГРАН-ПРИ</a:t>
            </a:r>
            <a:endParaRPr lang="en-US" sz="4400" dirty="0"/>
          </a:p>
        </p:txBody>
      </p:sp>
      <p:sp>
        <p:nvSpPr>
          <p:cNvPr id="10" name="Text 7"/>
          <p:cNvSpPr/>
          <p:nvPr/>
        </p:nvSpPr>
        <p:spPr>
          <a:xfrm>
            <a:off x="990600" y="3880000"/>
            <a:ext cx="6082665" cy="6400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EDE1"/>
                </a:solidFill>
                <a:latin typeface="Exo 2" pitchFamily="34" charset="0"/>
                <a:ea typeface="Exo 2" pitchFamily="34" charset="-122"/>
                <a:cs typeface="Exo 2" pitchFamily="34" charset="-120"/>
              </a:rPr>
              <a:t>Обладатель ГРАН-ПРИ XV Всероссийского открытого фестиваля детского и подросткового телевизионного творчества «ДеТВора-2026» в номинации «Игровое короткометражное кино»!</a:t>
            </a:r>
            <a:endParaRPr lang="en-US" sz="1400" dirty="0"/>
          </a:p>
        </p:txBody>
      </p:sp>
      <p:cxnSp>
        <p:nvCxnSpPr>
          <p:cNvPr id="15" name="Divider"/>
          <p:cNvCxnSpPr/>
          <p:nvPr/>
        </p:nvCxnSpPr>
        <p:spPr>
          <a:xfrm>
            <a:off x="990600" y="4640000"/>
            <a:ext cx="6082665" cy="0"/>
          </a:xfrm>
          <a:prstGeom prst="line">
            <a:avLst/>
          </a:prstGeom>
          <a:ln w="12700">
            <a:solidFill>
              <a:srgbClr val="FFB020">
                <a:alpha val="45000"/>
              </a:srgbClr>
            </a:solidFill>
          </a:ln>
        </p:spPr>
      </p:cxnSp>
      <p:sp>
        <p:nvSpPr>
          <p:cNvPr id="16" name="Award 2 title"/>
          <p:cNvSpPr txBox="1"/>
          <p:nvPr/>
        </p:nvSpPr>
        <p:spPr>
          <a:xfrm>
            <a:off x="990600" y="4780000"/>
            <a:ext cx="6082665" cy="440000"/>
          </a:xfrm>
          <a:prstGeom prst="rect">
            <a:avLst/>
          </a:prstGeom>
          <a:noFill/>
          <a:ln/>
        </p:spPr>
        <p:txBody>
          <a:bodyPr wrap="square" lIns="0" tIns="0" rIns="0" bIns="0" rtlCol="0" anchor="t">
            <a:normAutofit/>
          </a:bodyPr>
          <a:lstStyle/>
          <a:p>
            <a:pPr algn="l" indent="0" marL="0">
              <a:lnSpc>
                <a:spcPts val="3200"/>
              </a:lnSpc>
              <a:buNone/>
            </a:pPr>
            <a:r>
              <a:rPr lang="ru-RU" sz="2800" dirty="0">
                <a:solidFill>
                  <a:srgbClr val="FFB020"/>
                </a:solidFill>
                <a:latin typeface="Russo One" pitchFamily="34" charset="0"/>
                <a:ea typeface="Russo One" pitchFamily="34" charset="-122"/>
                <a:cs typeface="Russo One" pitchFamily="34" charset="-120"/>
              </a:rPr>
              <a:t>ЛАУРЕАТ III СТЕПЕНИ</a:t>
            </a:r>
          </a:p>
        </p:txBody>
      </p:sp>
      <p:sp>
        <p:nvSpPr>
          <p:cNvPr id="17" name="Award 2 text"/>
          <p:cNvSpPr txBox="1"/>
          <p:nvPr/>
        </p:nvSpPr>
        <p:spPr>
          <a:xfrm>
            <a:off x="990600" y="5260000"/>
            <a:ext cx="6082665" cy="420000"/>
          </a:xfrm>
          <a:prstGeom prst="rect">
            <a:avLst/>
          </a:prstGeom>
          <a:noFill/>
          <a:ln/>
        </p:spPr>
        <p:txBody>
          <a:bodyPr wrap="square" lIns="0" tIns="0" rIns="0" bIns="0" rtlCol="0" anchor="t">
            <a:normAutofit/>
          </a:bodyPr>
          <a:lstStyle/>
          <a:p>
            <a:pPr algn="l" indent="0" marL="0">
              <a:lnSpc>
                <a:spcPts val="1960"/>
              </a:lnSpc>
              <a:buNone/>
            </a:pPr>
            <a:r>
              <a:rPr lang="ru-RU" sz="1400" dirty="0">
                <a:solidFill>
                  <a:srgbClr val="F2EDE1"/>
                </a:solidFill>
                <a:latin typeface="Exo 2" pitchFamily="34" charset="0"/>
                <a:ea typeface="Exo 2" pitchFamily="34" charset="-122"/>
                <a:cs typeface="Exo 2" pitchFamily="34" charset="-120"/>
              </a:rPr>
              <a:t>XI Межрегиональный детско-юношеский конкурс любительских короткометражных фильмов «На Крыльях Ангела»</a:t>
            </a:r>
          </a:p>
        </p:txBody>
      </p:sp>
      <p:pic>
        <p:nvPicPr>
          <p:cNvPr id="11" name="Image 1" descr="Съёмки фильма «День отца»: Александр обнимает юную актрису с букетом"/>
          <p:cNvPicPr>
            <a:picLocks noChangeAspect="1"/>
          </p:cNvPicPr>
          <p:nvPr/>
        </p:nvPicPr>
        <p:blipFill>
          <a:blip r:embed="rId3"/>
          <a:srcRect l="12368" r="12368" t="0" b="0"/>
          <a:stretch/>
        </p:blipFill>
        <p:spPr>
          <a:xfrm>
            <a:off x="7581900" y="635000"/>
            <a:ext cx="3873500" cy="5588000"/>
          </a:xfrm>
          <a:prstGeom prst="roundRect">
            <a:avLst>
              <a:gd name="adj" fmla="val 328"/>
            </a:avLst>
          </a:prstGeom>
        </p:spPr>
      </p:pic>
      <p:sp>
        <p:nvSpPr>
          <p:cNvPr id="12" name="Shape 8"/>
          <p:cNvSpPr/>
          <p:nvPr/>
        </p:nvSpPr>
        <p:spPr>
          <a:xfrm>
            <a:off x="7569200" y="622300"/>
            <a:ext cx="3898900" cy="5613400"/>
          </a:xfrm>
          <a:prstGeom prst="roundRect">
            <a:avLst>
              <a:gd name="adj" fmla="val 651"/>
            </a:avLst>
          </a:prstGeom>
          <a:noFill/>
          <a:ln w="25400">
            <a:solidFill>
              <a:srgbClr val="0C0D0F"/>
            </a:solidFill>
            <a:prstDash val="solid"/>
          </a:ln>
        </p:spPr>
      </p:sp>
      <p:sp>
        <p:nvSpPr>
          <p:cNvPr id="13" name="Text 9"/>
          <p:cNvSpPr/>
          <p:nvPr/>
        </p:nvSpPr>
        <p:spPr>
          <a:xfrm>
            <a:off x="711200" y="6339839"/>
            <a:ext cx="7194550" cy="238760"/>
          </a:xfrm>
          <a:prstGeom prst="rect">
            <a:avLst/>
          </a:prstGeom>
          <a:noFill/>
          <a:ln/>
        </p:spPr>
        <p:txBody>
          <a:bodyPr wrap="none" lIns="0" tIns="0" rIns="0" bIns="0" rtlCol="0" anchor="t">
            <a:normAutofit/>
          </a:bodyPr>
          <a:lstStyle/>
          <a:p>
            <a:pPr algn="l" indent="0" marL="0">
              <a:lnSpc>
                <a:spcPts val="1680"/>
              </a:lnSpc>
              <a:buNone/>
            </a:pPr>
            <a:r>
              <a:rPr lang="en-US" sz="1200" spc="120" kern="0" dirty="0">
                <a:solidFill>
                  <a:srgbClr val="3A2900"/>
                </a:solidFill>
                <a:latin typeface="IBM Plex Mono" pitchFamily="49" charset="0"/>
                <a:ea typeface="IBM Plex Mono" pitchFamily="49" charset="-122"/>
                <a:cs typeface="IBM Plex Mono" pitchFamily="49" charset="-120"/>
              </a:rPr>
              <a:t>XXIX АКЦИЯ «БЛАГОРОДСТВО» · АЛЕКСАНДР ЧИКИН</a:t>
            </a:r>
            <a:endParaRPr lang="en-US" sz="1200" dirty="0"/>
          </a:p>
        </p:txBody>
      </p:sp>
      <p:sp>
        <p:nvSpPr>
          <p:cNvPr id="14" name="Text 10"/>
          <p:cNvSpPr/>
          <p:nvPr/>
        </p:nvSpPr>
        <p:spPr>
          <a:xfrm>
            <a:off x="10160000" y="63398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spc="120" kern="0" dirty="0">
                <a:solidFill>
                  <a:srgbClr val="3A2900"/>
                </a:solidFill>
                <a:latin typeface="IBM Plex Mono" pitchFamily="49" charset="0"/>
                <a:ea typeface="IBM Plex Mono" pitchFamily="49" charset="-122"/>
                <a:cs typeface="IBM Plex Mono" pitchFamily="49" charset="-120"/>
              </a:rPr>
              <a:t>06 / 11</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D0F"/>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711200" y="609600"/>
            <a:ext cx="7063740" cy="238760"/>
          </a:xfrm>
          <a:prstGeom prst="rect">
            <a:avLst/>
          </a:prstGeom>
          <a:noFill/>
          <a:ln/>
        </p:spPr>
        <p:txBody>
          <a:bodyPr wrap="square" lIns="0" tIns="0" rIns="0" bIns="0" rtlCol="0" anchor="t">
            <a:normAutofit/>
          </a:bodyPr>
          <a:lstStyle/>
          <a:p>
            <a:pPr algn="l" indent="0" marL="0">
              <a:lnSpc>
                <a:spcPts val="1680"/>
              </a:lnSpc>
              <a:buNone/>
            </a:pPr>
            <a:r>
              <a:rPr lang="en-US" sz="1200" b="1" spc="240" kern="0" dirty="0">
                <a:solidFill>
                  <a:srgbClr val="FFB020"/>
                </a:solidFill>
                <a:latin typeface="Exo 2" pitchFamily="34" charset="0"/>
                <a:ea typeface="Exo 2" pitchFamily="34" charset="-122"/>
                <a:cs typeface="Exo 2" pitchFamily="34" charset="-120"/>
              </a:rPr>
              <a:t>КИНО · ВОСПИТАНИЕ ПАТРИОТИЗМА</a:t>
            </a:r>
            <a:endParaRPr lang="en-US" sz="1200" dirty="0"/>
          </a:p>
        </p:txBody>
      </p:sp>
      <p:sp>
        <p:nvSpPr>
          <p:cNvPr id="4" name="Text 1"/>
          <p:cNvSpPr/>
          <p:nvPr>
            <p:ph type="title"/>
          </p:nvPr>
        </p:nvSpPr>
        <p:spPr>
          <a:xfrm>
            <a:off x="711200" y="949961"/>
            <a:ext cx="7063740" cy="1220073"/>
          </a:xfrm>
          <a:prstGeom prst="rect">
            <a:avLst/>
          </a:prstGeom>
          <a:noFill/>
          <a:ln/>
        </p:spPr>
        <p:txBody>
          <a:bodyPr wrap="square" lIns="0" tIns="0" rIns="0" bIns="0" rtlCol="0" anchor="t">
            <a:normAutofit/>
          </a:bodyPr>
          <a:lstStyle/>
          <a:p>
            <a:pPr algn="l" indent="0" marL="0">
              <a:lnSpc>
                <a:spcPts val="3136"/>
              </a:lnSpc>
              <a:buNone/>
            </a:pPr>
            <a:r>
              <a:rPr lang="en-US" sz="2800" b="0" i="0" dirty="0">
                <a:solidFill>
                  <a:srgbClr val="F2EDE1"/>
                </a:solidFill>
                <a:latin typeface="Russo One" pitchFamily="34" charset="0"/>
                <a:ea typeface="Russo One" pitchFamily="34" charset="-122"/>
                <a:cs typeface="Russo One" pitchFamily="34" charset="-120"/>
              </a:rPr>
              <a:t>Воспитание патриотизма среди детской аудитории посредством кино</a:t>
            </a:r>
            <a:endParaRPr lang="en-US" sz="2800" dirty="0"/>
          </a:p>
        </p:txBody>
      </p:sp>
      <p:sp>
        <p:nvSpPr>
          <p:cNvPr id="5" name="Shape 2"/>
          <p:cNvSpPr/>
          <p:nvPr/>
        </p:nvSpPr>
        <p:spPr>
          <a:xfrm>
            <a:off x="711200" y="2373235"/>
            <a:ext cx="2057400" cy="736600"/>
          </a:xfrm>
          <a:prstGeom prst="roundRect">
            <a:avLst>
              <a:gd name="adj" fmla="val 13793"/>
            </a:avLst>
          </a:prstGeom>
          <a:gradFill rotWithShape="1">
            <a:gsLst>
              <a:gs pos="0">
                <a:srgbClr val="4A4B50"/>
              </a:gs>
              <a:gs pos="100000">
                <a:srgbClr val="1D1E21"/>
              </a:gs>
            </a:gsLst>
            <a:lin ang="5400000" scaled="0"/>
          </a:gradFill>
          <a:ln/>
        </p:spPr>
      </p:sp>
      <p:sp>
        <p:nvSpPr>
          <p:cNvPr id="6" name="Text 3"/>
          <p:cNvSpPr/>
          <p:nvPr/>
        </p:nvSpPr>
        <p:spPr>
          <a:xfrm>
            <a:off x="774700" y="2436735"/>
            <a:ext cx="444500" cy="609600"/>
          </a:xfrm>
          <a:prstGeom prst="roundRect">
            <a:avLst>
              <a:gd name="adj" fmla="val 11429"/>
            </a:avLst>
          </a:pr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3800"/>
              </a:lnSpc>
              <a:buNone/>
            </a:pPr>
            <a:r>
              <a:rPr lang="en-US" sz="3800" dirty="0">
                <a:solidFill>
                  <a:srgbClr val="F2EDE1"/>
                </a:solidFill>
                <a:latin typeface="Russo One" pitchFamily="34" charset="0"/>
                <a:ea typeface="Russo One" pitchFamily="34" charset="-122"/>
                <a:cs typeface="Russo One" pitchFamily="34" charset="-120"/>
              </a:rPr>
              <a:t>1</a:t>
            </a:r>
            <a:endParaRPr lang="en-US" sz="3800" dirty="0"/>
          </a:p>
        </p:txBody>
      </p:sp>
      <p:sp>
        <p:nvSpPr>
          <p:cNvPr id="7" name="Text 4"/>
          <p:cNvSpPr/>
          <p:nvPr/>
        </p:nvSpPr>
        <p:spPr>
          <a:xfrm>
            <a:off x="1270000" y="2436735"/>
            <a:ext cx="444500" cy="609600"/>
          </a:xfrm>
          <a:prstGeom prst="roundRect">
            <a:avLst>
              <a:gd name="adj" fmla="val 11429"/>
            </a:avLst>
          </a:pr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3800"/>
              </a:lnSpc>
              <a:buNone/>
            </a:pPr>
            <a:r>
              <a:rPr lang="en-US" sz="3800" dirty="0">
                <a:solidFill>
                  <a:srgbClr val="F2EDE1"/>
                </a:solidFill>
                <a:latin typeface="Russo One" pitchFamily="34" charset="0"/>
                <a:ea typeface="Russo One" pitchFamily="34" charset="-122"/>
                <a:cs typeface="Russo One" pitchFamily="34" charset="-120"/>
              </a:rPr>
              <a:t>2</a:t>
            </a:r>
            <a:endParaRPr lang="en-US" sz="3800" dirty="0"/>
          </a:p>
        </p:txBody>
      </p:sp>
      <p:sp>
        <p:nvSpPr>
          <p:cNvPr id="8" name="Text 5"/>
          <p:cNvSpPr/>
          <p:nvPr/>
        </p:nvSpPr>
        <p:spPr>
          <a:xfrm>
            <a:off x="1765300" y="2436735"/>
            <a:ext cx="444500" cy="609600"/>
          </a:xfrm>
          <a:custGeom>
            <a:avLst/>
            <a:gdLst/>
            <a:ahLst/>
            <a:cxnLst/>
            <a:rect l="l" t="t" r="r" b="b"/>
            <a:pathLst>
              <a:path w="444500" h="609600">
                <a:moveTo>
                  <a:pt x="50800" y="0"/>
                </a:moveTo>
                <a:lnTo>
                  <a:pt x="393700" y="0"/>
                </a:lnTo>
                <a:arcTo hR="50800" wR="50800" stAng="16200000" swAng="5400000"/>
                <a:lnTo>
                  <a:pt x="444500" y="558800"/>
                </a:lnTo>
                <a:arcTo hR="50800" wR="50800" stAng="0" swAng="5400000"/>
                <a:lnTo>
                  <a:pt x="50800" y="609600"/>
                </a:lnTo>
                <a:arcTo hR="50800" wR="50800" stAng="5400000" swAng="5400000"/>
                <a:lnTo>
                  <a:pt x="0" y="50800"/>
                </a:lnTo>
                <a:arcTo hR="50800" wR="50800" stAng="10800000" swAng="5400000"/>
                <a:close/>
              </a:path>
            </a:pathLst>
          </a:cu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3800"/>
              </a:lnSpc>
              <a:buNone/>
            </a:pPr>
            <a:r>
              <a:rPr lang="en-US" sz="3800" dirty="0">
                <a:solidFill>
                  <a:srgbClr val="F2EDE1"/>
                </a:solidFill>
                <a:latin typeface="Russo One" pitchFamily="34" charset="0"/>
                <a:ea typeface="Russo One" pitchFamily="34" charset="-122"/>
                <a:cs typeface="Russo One" pitchFamily="34" charset="-120"/>
              </a:rPr>
              <a:t>0</a:t>
            </a:r>
            <a:endParaRPr lang="en-US" sz="3800" dirty="0"/>
          </a:p>
        </p:txBody>
      </p:sp>
      <p:sp>
        <p:nvSpPr>
          <p:cNvPr id="9" name="Text 6"/>
          <p:cNvSpPr/>
          <p:nvPr/>
        </p:nvSpPr>
        <p:spPr>
          <a:xfrm>
            <a:off x="2260600" y="2436735"/>
            <a:ext cx="444500" cy="609600"/>
          </a:xfrm>
          <a:prstGeom prst="roundRect">
            <a:avLst>
              <a:gd name="adj" fmla="val 11429"/>
            </a:avLst>
          </a:pr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3800"/>
              </a:lnSpc>
              <a:buNone/>
            </a:pPr>
            <a:r>
              <a:rPr lang="en-US" sz="3800" dirty="0">
                <a:solidFill>
                  <a:srgbClr val="FFB020"/>
                </a:solidFill>
                <a:latin typeface="Russo One" pitchFamily="34" charset="0"/>
                <a:ea typeface="Russo One" pitchFamily="34" charset="-122"/>
                <a:cs typeface="Russo One" pitchFamily="34" charset="-120"/>
              </a:rPr>
              <a:t>+</a:t>
            </a:r>
            <a:endParaRPr lang="en-US" sz="3800" dirty="0"/>
          </a:p>
        </p:txBody>
      </p:sp>
      <p:sp>
        <p:nvSpPr>
          <p:cNvPr id="10" name="Text 7"/>
          <p:cNvSpPr/>
          <p:nvPr/>
        </p:nvSpPr>
        <p:spPr>
          <a:xfrm>
            <a:off x="3035300" y="2474835"/>
            <a:ext cx="466991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6E0D2"/>
                </a:solidFill>
                <a:latin typeface="Exo 2" pitchFamily="34" charset="0"/>
                <a:ea typeface="Exo 2" pitchFamily="34" charset="-122"/>
                <a:cs typeface="Exo 2" pitchFamily="34" charset="-120"/>
              </a:rPr>
              <a:t>телеканалов России и Белоруссии показывают фильмы</a:t>
            </a:r>
            <a:endParaRPr lang="en-US" sz="1500" dirty="0"/>
          </a:p>
        </p:txBody>
      </p:sp>
      <p:sp>
        <p:nvSpPr>
          <p:cNvPr id="11" name="Shape 8"/>
          <p:cNvSpPr/>
          <p:nvPr/>
        </p:nvSpPr>
        <p:spPr>
          <a:xfrm>
            <a:off x="711200" y="3313035"/>
            <a:ext cx="571500" cy="736600"/>
          </a:xfrm>
          <a:prstGeom prst="roundRect">
            <a:avLst>
              <a:gd name="adj" fmla="val 17778"/>
            </a:avLst>
          </a:prstGeom>
          <a:gradFill rotWithShape="1">
            <a:gsLst>
              <a:gs pos="0">
                <a:srgbClr val="4A4B50"/>
              </a:gs>
              <a:gs pos="100000">
                <a:srgbClr val="1D1E21"/>
              </a:gs>
            </a:gsLst>
            <a:lin ang="5400000" scaled="0"/>
          </a:gradFill>
          <a:ln/>
        </p:spPr>
      </p:sp>
      <p:sp>
        <p:nvSpPr>
          <p:cNvPr id="12" name="Text 9"/>
          <p:cNvSpPr/>
          <p:nvPr/>
        </p:nvSpPr>
        <p:spPr>
          <a:xfrm>
            <a:off x="774700" y="3376535"/>
            <a:ext cx="444500" cy="609600"/>
          </a:xfrm>
          <a:prstGeom prst="roundRect">
            <a:avLst>
              <a:gd name="adj" fmla="val 11429"/>
            </a:avLst>
          </a:pr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3800"/>
              </a:lnSpc>
              <a:buNone/>
            </a:pPr>
            <a:r>
              <a:rPr lang="en-US" sz="3800" dirty="0">
                <a:solidFill>
                  <a:srgbClr val="F2EDE1"/>
                </a:solidFill>
                <a:latin typeface="Russo One" pitchFamily="34" charset="0"/>
                <a:ea typeface="Russo One" pitchFamily="34" charset="-122"/>
                <a:cs typeface="Russo One" pitchFamily="34" charset="-120"/>
              </a:rPr>
              <a:t>3</a:t>
            </a:r>
            <a:endParaRPr lang="en-US" sz="3800" dirty="0"/>
          </a:p>
        </p:txBody>
      </p:sp>
      <p:sp>
        <p:nvSpPr>
          <p:cNvPr id="13" name="Text 10"/>
          <p:cNvSpPr/>
          <p:nvPr/>
        </p:nvSpPr>
        <p:spPr>
          <a:xfrm>
            <a:off x="3035300" y="3414635"/>
            <a:ext cx="466991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6E0D2"/>
                </a:solidFill>
                <a:latin typeface="Exo 2" pitchFamily="34" charset="0"/>
                <a:ea typeface="Exo 2" pitchFamily="34" charset="-122"/>
                <a:cs typeface="Exo 2" pitchFamily="34" charset="-120"/>
              </a:rPr>
              <a:t>онлайн-кинотеатра, где размещены фильмы: Кинопоиск, Триколор Кино и ТВ, Киносферум</a:t>
            </a:r>
            <a:endParaRPr lang="en-US" sz="1500" dirty="0"/>
          </a:p>
        </p:txBody>
      </p:sp>
      <p:sp>
        <p:nvSpPr>
          <p:cNvPr id="14" name="Shape 11"/>
          <p:cNvSpPr/>
          <p:nvPr/>
        </p:nvSpPr>
        <p:spPr>
          <a:xfrm>
            <a:off x="711200" y="4755753"/>
            <a:ext cx="1066800" cy="736600"/>
          </a:xfrm>
          <a:prstGeom prst="roundRect">
            <a:avLst>
              <a:gd name="adj" fmla="val 13793"/>
            </a:avLst>
          </a:prstGeom>
          <a:gradFill rotWithShape="1">
            <a:gsLst>
              <a:gs pos="0">
                <a:srgbClr val="4A4B50"/>
              </a:gs>
              <a:gs pos="100000">
                <a:srgbClr val="1D1E21"/>
              </a:gs>
            </a:gsLst>
            <a:lin ang="5400000" scaled="0"/>
          </a:gradFill>
          <a:ln/>
        </p:spPr>
      </p:sp>
      <p:sp>
        <p:nvSpPr>
          <p:cNvPr id="15" name="Text 12"/>
          <p:cNvSpPr/>
          <p:nvPr/>
        </p:nvSpPr>
        <p:spPr>
          <a:xfrm>
            <a:off x="774700" y="4819253"/>
            <a:ext cx="444500" cy="609600"/>
          </a:xfrm>
          <a:prstGeom prst="roundRect">
            <a:avLst>
              <a:gd name="adj" fmla="val 11429"/>
            </a:avLst>
          </a:pr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3800"/>
              </a:lnSpc>
              <a:buNone/>
            </a:pPr>
            <a:r>
              <a:rPr lang="en-US" sz="3800" dirty="0">
                <a:solidFill>
                  <a:srgbClr val="F2EDE1"/>
                </a:solidFill>
                <a:latin typeface="Russo One" pitchFamily="34" charset="0"/>
                <a:ea typeface="Russo One" pitchFamily="34" charset="-122"/>
                <a:cs typeface="Russo One" pitchFamily="34" charset="-120"/>
              </a:rPr>
              <a:t>1</a:t>
            </a:r>
            <a:endParaRPr lang="en-US" sz="3800" dirty="0"/>
          </a:p>
        </p:txBody>
      </p:sp>
      <p:sp>
        <p:nvSpPr>
          <p:cNvPr id="16" name="Text 13"/>
          <p:cNvSpPr/>
          <p:nvPr/>
        </p:nvSpPr>
        <p:spPr>
          <a:xfrm>
            <a:off x="1270000" y="4819253"/>
            <a:ext cx="444500" cy="609600"/>
          </a:xfrm>
          <a:custGeom>
            <a:avLst/>
            <a:gdLst/>
            <a:ahLst/>
            <a:cxnLst/>
            <a:rect l="l" t="t" r="r" b="b"/>
            <a:pathLst>
              <a:path w="444500" h="609600">
                <a:moveTo>
                  <a:pt x="50800" y="0"/>
                </a:moveTo>
                <a:lnTo>
                  <a:pt x="393700" y="0"/>
                </a:lnTo>
                <a:arcTo hR="50800" wR="50800" stAng="16200000" swAng="5400000"/>
                <a:lnTo>
                  <a:pt x="444500" y="558800"/>
                </a:lnTo>
                <a:arcTo hR="50800" wR="50800" stAng="0" swAng="5400000"/>
                <a:lnTo>
                  <a:pt x="50800" y="609600"/>
                </a:lnTo>
                <a:arcTo hR="50800" wR="50800" stAng="5400000" swAng="5400000"/>
                <a:lnTo>
                  <a:pt x="0" y="50800"/>
                </a:lnTo>
                <a:arcTo hR="50800" wR="50800" stAng="10800000" swAng="5400000"/>
                <a:close/>
              </a:path>
            </a:pathLst>
          </a:cu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3800"/>
              </a:lnSpc>
              <a:buNone/>
            </a:pPr>
            <a:r>
              <a:rPr lang="en-US" sz="3800" dirty="0">
                <a:solidFill>
                  <a:srgbClr val="F2EDE1"/>
                </a:solidFill>
                <a:latin typeface="Russo One" pitchFamily="34" charset="0"/>
                <a:ea typeface="Russo One" pitchFamily="34" charset="-122"/>
                <a:cs typeface="Russo One" pitchFamily="34" charset="-120"/>
              </a:rPr>
              <a:t>0</a:t>
            </a:r>
            <a:endParaRPr lang="en-US" sz="3800" dirty="0"/>
          </a:p>
        </p:txBody>
      </p:sp>
      <p:sp>
        <p:nvSpPr>
          <p:cNvPr id="17" name="Text 14"/>
          <p:cNvSpPr/>
          <p:nvPr/>
        </p:nvSpPr>
        <p:spPr>
          <a:xfrm>
            <a:off x="3035300" y="4252835"/>
            <a:ext cx="4669917" cy="17678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6E0D2"/>
                </a:solidFill>
                <a:latin typeface="Exo 2" pitchFamily="34" charset="0"/>
                <a:ea typeface="Exo 2" pitchFamily="34" charset="-122"/>
                <a:cs typeface="Exo 2" pitchFamily="34" charset="-120"/>
              </a:rPr>
              <a:t>регионов РФ используют фильмы в проекте БОЛЬШОЙ КИНОМАРАФОН на базе библиотечных систем и образовательных учреждений (оператор — Самарская областная детская библиотека) как дидактический материал по формированию и популяризации традиционных российских духовно-нравственных ценностей, в том числе патриотизма.</a:t>
            </a:r>
            <a:endParaRPr lang="en-US" sz="1400" dirty="0"/>
          </a:p>
        </p:txBody>
      </p:sp>
      <p:pic>
        <p:nvPicPr>
          <p:cNvPr id="18" name="Image 1" descr="Александр Чикин с юными участниками съёмок">    </p:cNvPr>
          <p:cNvPicPr>
            <a:picLocks noChangeAspect="1"/>
          </p:cNvPicPr>
          <p:nvPr/>
        </p:nvPicPr>
        <p:blipFill>
          <a:blip r:embed="rId2"/>
          <a:srcRect l="0" r="0" t="101" b="101"/>
          <a:stretch/>
        </p:blipFill>
        <p:spPr>
          <a:xfrm>
            <a:off x="8013700" y="622300"/>
            <a:ext cx="3454400" cy="2641600"/>
          </a:xfrm>
          <a:prstGeom prst="roundRect">
            <a:avLst>
              <a:gd name="adj" fmla="val 962"/>
            </a:avLst>
          </a:prstGeom>
        </p:spPr>
      </p:pic>
      <p:sp>
        <p:nvSpPr>
          <p:cNvPr id="19" name="Shape 15"/>
          <p:cNvSpPr/>
          <p:nvPr/>
        </p:nvSpPr>
        <p:spPr>
          <a:xfrm>
            <a:off x="8007350" y="615950"/>
            <a:ext cx="3467100" cy="2654300"/>
          </a:xfrm>
          <a:prstGeom prst="roundRect">
            <a:avLst>
              <a:gd name="adj" fmla="val 1196"/>
            </a:avLst>
          </a:prstGeom>
          <a:noFill/>
          <a:ln w="12700">
            <a:solidFill>
              <a:srgbClr val="FFB020"/>
            </a:solidFill>
            <a:prstDash val="solid"/>
          </a:ln>
        </p:spPr>
      </p:sp>
      <p:pic>
        <p:nvPicPr>
          <p:cNvPr id="20" name="Image 2" descr="Школьники в классе смотрят фильм">    </p:cNvPr>
          <p:cNvPicPr>
            <a:picLocks noChangeAspect="1"/>
          </p:cNvPicPr>
          <p:nvPr/>
        </p:nvPicPr>
        <p:blipFill>
          <a:blip r:embed="rId3"/>
          <a:srcRect l="0" r="0" t="80" b="80"/>
          <a:stretch/>
        </p:blipFill>
        <p:spPr>
          <a:xfrm>
            <a:off x="8013700" y="3441700"/>
            <a:ext cx="3454400" cy="2794000"/>
          </a:xfrm>
          <a:prstGeom prst="roundRect">
            <a:avLst>
              <a:gd name="adj" fmla="val 909"/>
            </a:avLst>
          </a:prstGeom>
        </p:spPr>
      </p:pic>
      <p:sp>
        <p:nvSpPr>
          <p:cNvPr id="21" name="Shape 16"/>
          <p:cNvSpPr/>
          <p:nvPr/>
        </p:nvSpPr>
        <p:spPr>
          <a:xfrm>
            <a:off x="8007350" y="3435350"/>
            <a:ext cx="3467100" cy="2806700"/>
          </a:xfrm>
          <a:prstGeom prst="roundRect">
            <a:avLst>
              <a:gd name="adj" fmla="val 1131"/>
            </a:avLst>
          </a:prstGeom>
          <a:noFill/>
          <a:ln w="12700">
            <a:solidFill>
              <a:srgbClr val="FFB020"/>
            </a:solidFill>
            <a:prstDash val="solid"/>
          </a:ln>
        </p:spPr>
      </p:sp>
      <p:sp>
        <p:nvSpPr>
          <p:cNvPr id="22" name="Text 17"/>
          <p:cNvSpPr/>
          <p:nvPr/>
        </p:nvSpPr>
        <p:spPr>
          <a:xfrm>
            <a:off x="711200" y="6339839"/>
            <a:ext cx="7194550" cy="238760"/>
          </a:xfrm>
          <a:prstGeom prst="rect">
            <a:avLst/>
          </a:prstGeom>
          <a:noFill/>
          <a:ln/>
        </p:spPr>
        <p:txBody>
          <a:bodyPr wrap="none" lIns="0" tIns="0" rIns="0" bIns="0" rtlCol="0" anchor="t">
            <a:normAutofit/>
          </a:bodyPr>
          <a:lstStyle/>
          <a:p>
            <a:pPr algn="l" indent="0" marL="0">
              <a:lnSpc>
                <a:spcPts val="1680"/>
              </a:lnSpc>
              <a:buNone/>
            </a:pPr>
            <a:r>
              <a:rPr lang="en-US" sz="1200" spc="120" kern="0" dirty="0">
                <a:solidFill>
                  <a:srgbClr val="8C897F"/>
                </a:solidFill>
                <a:latin typeface="IBM Plex Mono" pitchFamily="49" charset="0"/>
                <a:ea typeface="IBM Plex Mono" pitchFamily="49" charset="-122"/>
                <a:cs typeface="IBM Plex Mono" pitchFamily="49" charset="-120"/>
              </a:rPr>
              <a:t>XXIX АКЦИЯ «БЛАГОРОДСТВО» · АЛЕКСАНДР ЧИКИН</a:t>
            </a:r>
            <a:endParaRPr lang="en-US" sz="1200" dirty="0"/>
          </a:p>
        </p:txBody>
      </p:sp>
      <p:sp>
        <p:nvSpPr>
          <p:cNvPr id="23" name="Text 18"/>
          <p:cNvSpPr/>
          <p:nvPr/>
        </p:nvSpPr>
        <p:spPr>
          <a:xfrm>
            <a:off x="10160000" y="63398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spc="120" kern="0" dirty="0">
                <a:solidFill>
                  <a:srgbClr val="8C897F"/>
                </a:solidFill>
                <a:latin typeface="IBM Plex Mono" pitchFamily="49" charset="0"/>
                <a:ea typeface="IBM Plex Mono" pitchFamily="49" charset="-122"/>
                <a:cs typeface="IBM Plex Mono" pitchFamily="49" charset="-120"/>
              </a:rPr>
              <a:t>07 / 11</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D0F"/>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711200" y="609600"/>
            <a:ext cx="6331204" cy="238760"/>
          </a:xfrm>
          <a:prstGeom prst="rect">
            <a:avLst/>
          </a:prstGeom>
          <a:noFill/>
          <a:ln/>
        </p:spPr>
        <p:txBody>
          <a:bodyPr wrap="square" lIns="0" tIns="0" rIns="0" bIns="0" rtlCol="0" anchor="t">
            <a:normAutofit/>
          </a:bodyPr>
          <a:lstStyle/>
          <a:p>
            <a:pPr algn="l" indent="0" marL="0">
              <a:lnSpc>
                <a:spcPts val="1680"/>
              </a:lnSpc>
              <a:buNone/>
            </a:pPr>
            <a:r>
              <a:rPr lang="en-US" sz="1200" b="1" spc="240" kern="0" dirty="0">
                <a:solidFill>
                  <a:srgbClr val="FFB020"/>
                </a:solidFill>
                <a:latin typeface="Exo 2" pitchFamily="34" charset="0"/>
                <a:ea typeface="Exo 2" pitchFamily="34" charset="-122"/>
                <a:cs typeface="Exo 2" pitchFamily="34" charset="-120"/>
              </a:rPr>
              <a:t>ДЕЯТЕЛЬНОСТЬ СООБЩЕСТВА</a:t>
            </a:r>
            <a:endParaRPr lang="en-US" sz="1200" dirty="0"/>
          </a:p>
        </p:txBody>
      </p:sp>
      <p:sp>
        <p:nvSpPr>
          <p:cNvPr id="4" name="Text 1"/>
          <p:cNvSpPr/>
          <p:nvPr>
            <p:ph type="title"/>
          </p:nvPr>
        </p:nvSpPr>
        <p:spPr>
          <a:xfrm>
            <a:off x="711200" y="924561"/>
            <a:ext cx="6331204" cy="679609"/>
          </a:xfrm>
          <a:prstGeom prst="rect">
            <a:avLst/>
          </a:prstGeom>
          <a:noFill/>
          <a:ln/>
        </p:spPr>
        <p:txBody>
          <a:bodyPr wrap="square" lIns="0" tIns="0" rIns="0" bIns="0" rtlCol="0" anchor="t">
            <a:normAutofit/>
          </a:bodyPr>
          <a:lstStyle/>
          <a:p>
            <a:pPr algn="l" indent="0" marL="0">
              <a:lnSpc>
                <a:spcPts val="2576"/>
              </a:lnSpc>
              <a:buNone/>
            </a:pPr>
            <a:r>
              <a:rPr lang="en-US" sz="2300" b="0" i="0" dirty="0">
                <a:solidFill>
                  <a:srgbClr val="F2EDE1"/>
                </a:solidFill>
                <a:latin typeface="Russo One" pitchFamily="34" charset="0"/>
                <a:ea typeface="Russo One" pitchFamily="34" charset="-122"/>
                <a:cs typeface="Russo One" pitchFamily="34" charset="-120"/>
              </a:rPr>
              <a:t>Полный цикл поддержки: от заявки с фронта до передачи в руки бойцам</a:t>
            </a:r>
            <a:endParaRPr lang="en-US" sz="2300" dirty="0"/>
          </a:p>
        </p:txBody>
      </p:sp>
      <p:sp>
        <p:nvSpPr>
          <p:cNvPr id="5" name="Text 2"/>
          <p:cNvSpPr/>
          <p:nvPr/>
        </p:nvSpPr>
        <p:spPr>
          <a:xfrm>
            <a:off x="711200" y="1680369"/>
            <a:ext cx="633120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FCABD"/>
                </a:solidFill>
                <a:latin typeface="Exo 2" pitchFamily="34" charset="0"/>
                <a:ea typeface="Exo 2" pitchFamily="34" charset="-122"/>
                <a:cs typeface="Exo 2" pitchFamily="34" charset="-120"/>
              </a:rPr>
              <a:t>За неполных 4 года существования крепкой команды волонтёры «Самара для фронта» собрали и доставили на фронт более 200 тонн гуманитарной помощи. Команда сообщества осуществляет:</a:t>
            </a:r>
            <a:endParaRPr lang="en-US" sz="1500" dirty="0"/>
          </a:p>
        </p:txBody>
      </p:sp>
      <p:pic>
        <p:nvPicPr>
          <p:cNvPr id="6" name="Image 1" descr="Волонтёры у автомобилей УАЗ и «Нива», подготовленных для фронта">    </p:cNvPr>
          <p:cNvPicPr>
            <a:picLocks noChangeAspect="1"/>
          </p:cNvPicPr>
          <p:nvPr/>
        </p:nvPicPr>
        <p:blipFill>
          <a:blip r:embed="rId2"/>
          <a:srcRect l="0" r="0" t="163" b="163"/>
          <a:stretch/>
        </p:blipFill>
        <p:spPr>
          <a:xfrm>
            <a:off x="7366000" y="622300"/>
            <a:ext cx="2590800" cy="1936750"/>
          </a:xfrm>
          <a:prstGeom prst="roundRect">
            <a:avLst>
              <a:gd name="adj" fmla="val 1311"/>
            </a:avLst>
          </a:prstGeom>
        </p:spPr>
      </p:pic>
      <p:sp>
        <p:nvSpPr>
          <p:cNvPr id="7" name="Shape 3"/>
          <p:cNvSpPr/>
          <p:nvPr/>
        </p:nvSpPr>
        <p:spPr>
          <a:xfrm>
            <a:off x="7359650" y="615950"/>
            <a:ext cx="2603500" cy="1949450"/>
          </a:xfrm>
          <a:prstGeom prst="roundRect">
            <a:avLst>
              <a:gd name="adj" fmla="val 1629"/>
            </a:avLst>
          </a:prstGeom>
          <a:noFill/>
          <a:ln w="12700">
            <a:solidFill>
              <a:srgbClr val="FFB020"/>
            </a:solidFill>
            <a:prstDash val="solid"/>
          </a:ln>
        </p:spPr>
      </p:sp>
      <p:pic>
        <p:nvPicPr>
          <p:cNvPr id="8" name="Image 2" descr="Александр Чикин с маскировочными сетями у грузовика">    </p:cNvPr>
          <p:cNvPicPr>
            <a:picLocks noChangeAspect="1"/>
          </p:cNvPicPr>
          <p:nvPr/>
        </p:nvPicPr>
        <p:blipFill>
          <a:blip r:embed="rId3"/>
          <a:srcRect l="273" r="273" t="0" b="0"/>
          <a:stretch/>
        </p:blipFill>
        <p:spPr>
          <a:xfrm>
            <a:off x="10134600" y="622300"/>
            <a:ext cx="1333500" cy="1936750"/>
          </a:xfrm>
          <a:prstGeom prst="roundRect">
            <a:avLst>
              <a:gd name="adj" fmla="val 1905"/>
            </a:avLst>
          </a:prstGeom>
        </p:spPr>
      </p:pic>
      <p:sp>
        <p:nvSpPr>
          <p:cNvPr id="9" name="Shape 4"/>
          <p:cNvSpPr/>
          <p:nvPr/>
        </p:nvSpPr>
        <p:spPr>
          <a:xfrm>
            <a:off x="10128250" y="615950"/>
            <a:ext cx="1346200" cy="1949450"/>
          </a:xfrm>
          <a:prstGeom prst="roundRect">
            <a:avLst>
              <a:gd name="adj" fmla="val 2358"/>
            </a:avLst>
          </a:prstGeom>
          <a:noFill/>
          <a:ln w="12700">
            <a:solidFill>
              <a:srgbClr val="FFB020"/>
            </a:solidFill>
            <a:prstDash val="solid"/>
          </a:ln>
        </p:spPr>
      </p:sp>
      <p:sp>
        <p:nvSpPr>
          <p:cNvPr id="10" name="Text 5"/>
          <p:cNvSpPr/>
          <p:nvPr/>
        </p:nvSpPr>
        <p:spPr>
          <a:xfrm>
            <a:off x="711200" y="2692400"/>
            <a:ext cx="406400" cy="406400"/>
          </a:xfrm>
          <a:prstGeom prst="roundRect">
            <a:avLst>
              <a:gd name="adj" fmla="val 12500"/>
            </a:avLst>
          </a:pr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1700"/>
              </a:lnSpc>
              <a:buNone/>
            </a:pPr>
            <a:r>
              <a:rPr lang="en-US" sz="1700" dirty="0">
                <a:solidFill>
                  <a:srgbClr val="FFB020"/>
                </a:solidFill>
                <a:latin typeface="Russo One" pitchFamily="34" charset="0"/>
                <a:ea typeface="Russo One" pitchFamily="34" charset="-122"/>
                <a:cs typeface="Russo One" pitchFamily="34" charset="-120"/>
              </a:rPr>
              <a:t>1</a:t>
            </a:r>
            <a:endParaRPr lang="en-US" sz="1700" dirty="0"/>
          </a:p>
        </p:txBody>
      </p:sp>
      <p:sp>
        <p:nvSpPr>
          <p:cNvPr id="11" name="Text 6"/>
          <p:cNvSpPr/>
          <p:nvPr/>
        </p:nvSpPr>
        <p:spPr>
          <a:xfrm>
            <a:off x="1244600" y="2692400"/>
            <a:ext cx="4813808"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E6E0D2"/>
                </a:solidFill>
                <a:latin typeface="Exo 2" pitchFamily="34" charset="0"/>
                <a:ea typeface="Exo 2" pitchFamily="34" charset="-122"/>
                <a:cs typeface="Exo 2" pitchFamily="34" charset="-120"/>
              </a:rPr>
              <a:t>Приём заявок от наших ребят с фронта.</a:t>
            </a:r>
            <a:endParaRPr lang="en-US" sz="1300" dirty="0"/>
          </a:p>
        </p:txBody>
      </p:sp>
      <p:sp>
        <p:nvSpPr>
          <p:cNvPr id="12" name="Text 7"/>
          <p:cNvSpPr/>
          <p:nvPr/>
        </p:nvSpPr>
        <p:spPr>
          <a:xfrm>
            <a:off x="711200" y="3175000"/>
            <a:ext cx="406400" cy="406400"/>
          </a:xfrm>
          <a:prstGeom prst="roundRect">
            <a:avLst>
              <a:gd name="adj" fmla="val 12500"/>
            </a:avLst>
          </a:pr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1700"/>
              </a:lnSpc>
              <a:buNone/>
            </a:pPr>
            <a:r>
              <a:rPr lang="en-US" sz="1700" dirty="0">
                <a:solidFill>
                  <a:srgbClr val="FFB020"/>
                </a:solidFill>
                <a:latin typeface="Russo One" pitchFamily="34" charset="0"/>
                <a:ea typeface="Russo One" pitchFamily="34" charset="-122"/>
                <a:cs typeface="Russo One" pitchFamily="34" charset="-120"/>
              </a:rPr>
              <a:t>2</a:t>
            </a:r>
            <a:endParaRPr lang="en-US" sz="1700" dirty="0"/>
          </a:p>
        </p:txBody>
      </p:sp>
      <p:sp>
        <p:nvSpPr>
          <p:cNvPr id="13" name="Text 8"/>
          <p:cNvSpPr/>
          <p:nvPr/>
        </p:nvSpPr>
        <p:spPr>
          <a:xfrm>
            <a:off x="1244600" y="3175000"/>
            <a:ext cx="4813808"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E6E0D2"/>
                </a:solidFill>
                <a:latin typeface="Exo 2" pitchFamily="34" charset="0"/>
                <a:ea typeface="Exo 2" pitchFamily="34" charset="-122"/>
                <a:cs typeface="Exo 2" pitchFamily="34" charset="-120"/>
              </a:rPr>
              <a:t>Обработка и рассортировка всех данных.</a:t>
            </a:r>
            <a:endParaRPr lang="en-US" sz="1300" dirty="0"/>
          </a:p>
        </p:txBody>
      </p:sp>
      <p:sp>
        <p:nvSpPr>
          <p:cNvPr id="14" name="Text 9"/>
          <p:cNvSpPr/>
          <p:nvPr/>
        </p:nvSpPr>
        <p:spPr>
          <a:xfrm>
            <a:off x="711200" y="3657600"/>
            <a:ext cx="406400" cy="406400"/>
          </a:xfrm>
          <a:prstGeom prst="roundRect">
            <a:avLst>
              <a:gd name="adj" fmla="val 12500"/>
            </a:avLst>
          </a:pr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1700"/>
              </a:lnSpc>
              <a:buNone/>
            </a:pPr>
            <a:r>
              <a:rPr lang="en-US" sz="1700" dirty="0">
                <a:solidFill>
                  <a:srgbClr val="FFB020"/>
                </a:solidFill>
                <a:latin typeface="Russo One" pitchFamily="34" charset="0"/>
                <a:ea typeface="Russo One" pitchFamily="34" charset="-122"/>
                <a:cs typeface="Russo One" pitchFamily="34" charset="-120"/>
              </a:rPr>
              <a:t>3</a:t>
            </a:r>
            <a:endParaRPr lang="en-US" sz="1700" dirty="0"/>
          </a:p>
        </p:txBody>
      </p:sp>
      <p:sp>
        <p:nvSpPr>
          <p:cNvPr id="15" name="Text 10"/>
          <p:cNvSpPr/>
          <p:nvPr/>
        </p:nvSpPr>
        <p:spPr>
          <a:xfrm>
            <a:off x="1244600" y="3657600"/>
            <a:ext cx="4813808"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E6E0D2"/>
                </a:solidFill>
                <a:latin typeface="Exo 2" pitchFamily="34" charset="0"/>
                <a:ea typeface="Exo 2" pitchFamily="34" charset="-122"/>
                <a:cs typeface="Exo 2" pitchFamily="34" charset="-120"/>
              </a:rPr>
              <a:t>Поиск всего необходимого — желательно получше и подешевле, чтобы осилить больше просьб.</a:t>
            </a:r>
            <a:endParaRPr lang="en-US" sz="1300" dirty="0"/>
          </a:p>
        </p:txBody>
      </p:sp>
      <p:sp>
        <p:nvSpPr>
          <p:cNvPr id="16" name="Text 11"/>
          <p:cNvSpPr/>
          <p:nvPr/>
        </p:nvSpPr>
        <p:spPr>
          <a:xfrm>
            <a:off x="711200" y="4163064"/>
            <a:ext cx="406400" cy="406400"/>
          </a:xfrm>
          <a:prstGeom prst="roundRect">
            <a:avLst>
              <a:gd name="adj" fmla="val 12500"/>
            </a:avLst>
          </a:pr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1700"/>
              </a:lnSpc>
              <a:buNone/>
            </a:pPr>
            <a:r>
              <a:rPr lang="en-US" sz="1700" dirty="0">
                <a:solidFill>
                  <a:srgbClr val="FFB020"/>
                </a:solidFill>
                <a:latin typeface="Russo One" pitchFamily="34" charset="0"/>
                <a:ea typeface="Russo One" pitchFamily="34" charset="-122"/>
                <a:cs typeface="Russo One" pitchFamily="34" charset="-120"/>
              </a:rPr>
              <a:t>4</a:t>
            </a:r>
            <a:endParaRPr lang="en-US" sz="1700" dirty="0"/>
          </a:p>
        </p:txBody>
      </p:sp>
      <p:sp>
        <p:nvSpPr>
          <p:cNvPr id="17" name="Text 12"/>
          <p:cNvSpPr/>
          <p:nvPr/>
        </p:nvSpPr>
        <p:spPr>
          <a:xfrm>
            <a:off x="1244600" y="4163064"/>
            <a:ext cx="4813808"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E6E0D2"/>
                </a:solidFill>
                <a:latin typeface="Exo 2" pitchFamily="34" charset="0"/>
                <a:ea typeface="Exo 2" pitchFamily="34" charset="-122"/>
                <a:cs typeface="Exo 2" pitchFamily="34" charset="-120"/>
              </a:rPr>
              <a:t>Организация и проведение сборов, отчёты по всему собранному и приобретённому.</a:t>
            </a:r>
            <a:endParaRPr lang="en-US" sz="1300" dirty="0"/>
          </a:p>
        </p:txBody>
      </p:sp>
      <p:sp>
        <p:nvSpPr>
          <p:cNvPr id="18" name="Text 13"/>
          <p:cNvSpPr/>
          <p:nvPr/>
        </p:nvSpPr>
        <p:spPr>
          <a:xfrm>
            <a:off x="711200" y="4668521"/>
            <a:ext cx="406400" cy="406400"/>
          </a:xfrm>
          <a:prstGeom prst="roundRect">
            <a:avLst>
              <a:gd name="adj" fmla="val 12500"/>
            </a:avLst>
          </a:pr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1700"/>
              </a:lnSpc>
              <a:buNone/>
            </a:pPr>
            <a:r>
              <a:rPr lang="en-US" sz="1700" dirty="0">
                <a:solidFill>
                  <a:srgbClr val="FFB020"/>
                </a:solidFill>
                <a:latin typeface="Russo One" pitchFamily="34" charset="0"/>
                <a:ea typeface="Russo One" pitchFamily="34" charset="-122"/>
                <a:cs typeface="Russo One" pitchFamily="34" charset="-120"/>
              </a:rPr>
              <a:t>5</a:t>
            </a:r>
            <a:endParaRPr lang="en-US" sz="1700" dirty="0"/>
          </a:p>
        </p:txBody>
      </p:sp>
      <p:sp>
        <p:nvSpPr>
          <p:cNvPr id="19" name="Text 14"/>
          <p:cNvSpPr/>
          <p:nvPr/>
        </p:nvSpPr>
        <p:spPr>
          <a:xfrm>
            <a:off x="1244600" y="4668521"/>
            <a:ext cx="4813808"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E6E0D2"/>
                </a:solidFill>
                <a:latin typeface="Exo 2" pitchFamily="34" charset="0"/>
                <a:ea typeface="Exo 2" pitchFamily="34" charset="-122"/>
                <a:cs typeface="Exo 2" pitchFamily="34" charset="-120"/>
              </a:rPr>
              <a:t>Закупка и доставка всего необходимого.</a:t>
            </a:r>
            <a:endParaRPr lang="en-US" sz="1300" dirty="0"/>
          </a:p>
        </p:txBody>
      </p:sp>
      <p:sp>
        <p:nvSpPr>
          <p:cNvPr id="20" name="Text 15"/>
          <p:cNvSpPr/>
          <p:nvPr/>
        </p:nvSpPr>
        <p:spPr>
          <a:xfrm>
            <a:off x="6273800" y="2692400"/>
            <a:ext cx="406400" cy="406400"/>
          </a:xfrm>
          <a:prstGeom prst="roundRect">
            <a:avLst>
              <a:gd name="adj" fmla="val 12500"/>
            </a:avLst>
          </a:pr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1700"/>
              </a:lnSpc>
              <a:buNone/>
            </a:pPr>
            <a:r>
              <a:rPr lang="en-US" sz="1700" dirty="0">
                <a:solidFill>
                  <a:srgbClr val="FFB020"/>
                </a:solidFill>
                <a:latin typeface="Russo One" pitchFamily="34" charset="0"/>
                <a:ea typeface="Russo One" pitchFamily="34" charset="-122"/>
                <a:cs typeface="Russo One" pitchFamily="34" charset="-120"/>
              </a:rPr>
              <a:t>6</a:t>
            </a:r>
            <a:endParaRPr lang="en-US" sz="1700" dirty="0"/>
          </a:p>
        </p:txBody>
      </p:sp>
      <p:sp>
        <p:nvSpPr>
          <p:cNvPr id="21" name="Text 16"/>
          <p:cNvSpPr/>
          <p:nvPr/>
        </p:nvSpPr>
        <p:spPr>
          <a:xfrm>
            <a:off x="6807200" y="2692400"/>
            <a:ext cx="4813808" cy="8839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E6E0D2"/>
                </a:solidFill>
                <a:latin typeface="Exo 2" pitchFamily="34" charset="0"/>
                <a:ea typeface="Exo 2" pitchFamily="34" charset="-122"/>
                <a:cs typeface="Exo 2" pitchFamily="34" charset="-120"/>
              </a:rPr>
              <a:t>Приём гуманитарной помощи, рассортировка, расфасовка и упаковка всего полученного и закупленного для наших бойцов, с подписью-указанием, для кого это предназначено.</a:t>
            </a:r>
            <a:endParaRPr lang="en-US" sz="1300" dirty="0"/>
          </a:p>
        </p:txBody>
      </p:sp>
      <p:sp>
        <p:nvSpPr>
          <p:cNvPr id="22" name="Text 17"/>
          <p:cNvSpPr/>
          <p:nvPr/>
        </p:nvSpPr>
        <p:spPr>
          <a:xfrm>
            <a:off x="6273800" y="3627121"/>
            <a:ext cx="406400" cy="406400"/>
          </a:xfrm>
          <a:prstGeom prst="roundRect">
            <a:avLst>
              <a:gd name="adj" fmla="val 12500"/>
            </a:avLst>
          </a:pr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1700"/>
              </a:lnSpc>
              <a:buNone/>
            </a:pPr>
            <a:r>
              <a:rPr lang="en-US" sz="1700" dirty="0">
                <a:solidFill>
                  <a:srgbClr val="FFB020"/>
                </a:solidFill>
                <a:latin typeface="Russo One" pitchFamily="34" charset="0"/>
                <a:ea typeface="Russo One" pitchFamily="34" charset="-122"/>
                <a:cs typeface="Russo One" pitchFamily="34" charset="-120"/>
              </a:rPr>
              <a:t>7</a:t>
            </a:r>
            <a:endParaRPr lang="en-US" sz="1700" dirty="0"/>
          </a:p>
        </p:txBody>
      </p:sp>
      <p:sp>
        <p:nvSpPr>
          <p:cNvPr id="23" name="Text 18"/>
          <p:cNvSpPr/>
          <p:nvPr/>
        </p:nvSpPr>
        <p:spPr>
          <a:xfrm>
            <a:off x="6807200" y="3627121"/>
            <a:ext cx="4813808" cy="66929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E6E0D2"/>
                </a:solidFill>
                <a:latin typeface="Exo 2" pitchFamily="34" charset="0"/>
                <a:ea typeface="Exo 2" pitchFamily="34" charset="-122"/>
                <a:cs typeface="Exo 2" pitchFamily="34" charset="-120"/>
              </a:rPr>
              <a:t>Дальнейшая погрузка из штаба и доставка для загрузки всей гуманитарной помощи. Её доставка на фронт с последующей передачей из рук в руки нашим воинам.</a:t>
            </a:r>
            <a:endParaRPr lang="en-US" sz="1300" dirty="0"/>
          </a:p>
        </p:txBody>
      </p:sp>
      <p:sp>
        <p:nvSpPr>
          <p:cNvPr id="24" name="Text 19"/>
          <p:cNvSpPr/>
          <p:nvPr/>
        </p:nvSpPr>
        <p:spPr>
          <a:xfrm>
            <a:off x="6273800" y="4347214"/>
            <a:ext cx="406400" cy="406400"/>
          </a:xfrm>
          <a:prstGeom prst="roundRect">
            <a:avLst>
              <a:gd name="adj" fmla="val 12500"/>
            </a:avLst>
          </a:pr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1700"/>
              </a:lnSpc>
              <a:buNone/>
            </a:pPr>
            <a:r>
              <a:rPr lang="en-US" sz="1700" dirty="0">
                <a:solidFill>
                  <a:srgbClr val="FFB020"/>
                </a:solidFill>
                <a:latin typeface="Russo One" pitchFamily="34" charset="0"/>
                <a:ea typeface="Russo One" pitchFamily="34" charset="-122"/>
                <a:cs typeface="Russo One" pitchFamily="34" charset="-120"/>
              </a:rPr>
              <a:t>8</a:t>
            </a:r>
            <a:endParaRPr lang="en-US" sz="1700" dirty="0"/>
          </a:p>
        </p:txBody>
      </p:sp>
      <p:sp>
        <p:nvSpPr>
          <p:cNvPr id="25" name="Text 20"/>
          <p:cNvSpPr/>
          <p:nvPr/>
        </p:nvSpPr>
        <p:spPr>
          <a:xfrm>
            <a:off x="6807200" y="4347214"/>
            <a:ext cx="4813808" cy="66929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E6E0D2"/>
                </a:solidFill>
                <a:latin typeface="Exo 2" pitchFamily="34" charset="0"/>
                <a:ea typeface="Exo 2" pitchFamily="34" charset="-122"/>
                <a:cs typeface="Exo 2" pitchFamily="34" charset="-120"/>
              </a:rPr>
              <a:t>Организация и полный контроль за бесперебойным процессом плетения маскировочных сетей — сплетено не менее 100 тыс. кв. м.</a:t>
            </a:r>
            <a:endParaRPr lang="en-US" sz="1300" dirty="0"/>
          </a:p>
        </p:txBody>
      </p:sp>
      <p:sp>
        <p:nvSpPr>
          <p:cNvPr id="26" name="Text 21"/>
          <p:cNvSpPr/>
          <p:nvPr/>
        </p:nvSpPr>
        <p:spPr>
          <a:xfrm>
            <a:off x="6273800" y="5067300"/>
            <a:ext cx="406400" cy="406400"/>
          </a:xfrm>
          <a:prstGeom prst="roundRect">
            <a:avLst>
              <a:gd name="adj" fmla="val 12500"/>
            </a:avLst>
          </a:pr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1700"/>
              </a:lnSpc>
              <a:buNone/>
            </a:pPr>
            <a:r>
              <a:rPr lang="en-US" sz="1700" dirty="0">
                <a:solidFill>
                  <a:srgbClr val="FFB020"/>
                </a:solidFill>
                <a:latin typeface="Russo One" pitchFamily="34" charset="0"/>
                <a:ea typeface="Russo One" pitchFamily="34" charset="-122"/>
                <a:cs typeface="Russo One" pitchFamily="34" charset="-120"/>
              </a:rPr>
              <a:t>9</a:t>
            </a:r>
            <a:endParaRPr lang="en-US" sz="1700" dirty="0"/>
          </a:p>
        </p:txBody>
      </p:sp>
      <p:sp>
        <p:nvSpPr>
          <p:cNvPr id="27" name="Text 22"/>
          <p:cNvSpPr/>
          <p:nvPr/>
        </p:nvSpPr>
        <p:spPr>
          <a:xfrm>
            <a:off x="6807200" y="5067300"/>
            <a:ext cx="4813808"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E6E0D2"/>
                </a:solidFill>
                <a:latin typeface="Exo 2" pitchFamily="34" charset="0"/>
                <a:ea typeface="Exo 2" pitchFamily="34" charset="-122"/>
                <a:cs typeface="Exo 2" pitchFamily="34" charset="-120"/>
              </a:rPr>
              <a:t>Приобретение, ремонт и перегон на фронт автомобилей.</a:t>
            </a:r>
            <a:endParaRPr lang="en-US" sz="1300" dirty="0"/>
          </a:p>
        </p:txBody>
      </p:sp>
      <p:sp>
        <p:nvSpPr>
          <p:cNvPr id="28" name="Text 23"/>
          <p:cNvSpPr/>
          <p:nvPr/>
        </p:nvSpPr>
        <p:spPr>
          <a:xfrm>
            <a:off x="6273800" y="5549900"/>
            <a:ext cx="406400" cy="406400"/>
          </a:xfrm>
          <a:prstGeom prst="roundRect">
            <a:avLst>
              <a:gd name="adj" fmla="val 12500"/>
            </a:avLst>
          </a:pr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1700"/>
              </a:lnSpc>
              <a:buNone/>
            </a:pPr>
            <a:r>
              <a:rPr lang="en-US" sz="1700" dirty="0">
                <a:solidFill>
                  <a:srgbClr val="FFB020"/>
                </a:solidFill>
                <a:latin typeface="Russo One" pitchFamily="34" charset="0"/>
                <a:ea typeface="Russo One" pitchFamily="34" charset="-122"/>
                <a:cs typeface="Russo One" pitchFamily="34" charset="-120"/>
              </a:rPr>
              <a:t>10</a:t>
            </a:r>
            <a:endParaRPr lang="en-US" sz="1700" dirty="0"/>
          </a:p>
        </p:txBody>
      </p:sp>
      <p:sp>
        <p:nvSpPr>
          <p:cNvPr id="29" name="Text 24"/>
          <p:cNvSpPr/>
          <p:nvPr/>
        </p:nvSpPr>
        <p:spPr>
          <a:xfrm>
            <a:off x="6807200" y="5549900"/>
            <a:ext cx="4813808" cy="66929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E6E0D2"/>
                </a:solidFill>
                <a:latin typeface="Exo 2" pitchFamily="34" charset="0"/>
                <a:ea typeface="Exo 2" pitchFamily="34" charset="-122"/>
                <a:cs typeface="Exo 2" pitchFamily="34" charset="-120"/>
              </a:rPr>
              <a:t>Организация и полный контроль за процессом изготовления на территории штаба сухого душа, окопных свечей, подушек для наших бойцов.</a:t>
            </a:r>
            <a:endParaRPr lang="en-US" sz="1300" dirty="0"/>
          </a:p>
        </p:txBody>
      </p:sp>
      <p:sp>
        <p:nvSpPr>
          <p:cNvPr id="30" name="Text 25"/>
          <p:cNvSpPr/>
          <p:nvPr/>
        </p:nvSpPr>
        <p:spPr>
          <a:xfrm>
            <a:off x="711200" y="6339842"/>
            <a:ext cx="7194550" cy="238760"/>
          </a:xfrm>
          <a:prstGeom prst="rect">
            <a:avLst/>
          </a:prstGeom>
          <a:noFill/>
          <a:ln/>
        </p:spPr>
        <p:txBody>
          <a:bodyPr wrap="none" lIns="0" tIns="0" rIns="0" bIns="0" rtlCol="0" anchor="t">
            <a:normAutofit/>
          </a:bodyPr>
          <a:lstStyle/>
          <a:p>
            <a:pPr algn="l" indent="0" marL="0">
              <a:lnSpc>
                <a:spcPts val="1680"/>
              </a:lnSpc>
              <a:buNone/>
            </a:pPr>
            <a:r>
              <a:rPr lang="en-US" sz="1200" spc="120" kern="0" dirty="0">
                <a:solidFill>
                  <a:srgbClr val="8C897F"/>
                </a:solidFill>
                <a:latin typeface="IBM Plex Mono" pitchFamily="49" charset="0"/>
                <a:ea typeface="IBM Plex Mono" pitchFamily="49" charset="-122"/>
                <a:cs typeface="IBM Plex Mono" pitchFamily="49" charset="-120"/>
              </a:rPr>
              <a:t>XXIX АКЦИЯ «БЛАГОРОДСТВО» · АЛЕКСАНДР ЧИКИН</a:t>
            </a:r>
            <a:endParaRPr lang="en-US" sz="1200" dirty="0"/>
          </a:p>
        </p:txBody>
      </p:sp>
      <p:sp>
        <p:nvSpPr>
          <p:cNvPr id="31" name="Text 26"/>
          <p:cNvSpPr/>
          <p:nvPr/>
        </p:nvSpPr>
        <p:spPr>
          <a:xfrm>
            <a:off x="10160000" y="63398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spc="120" kern="0" dirty="0">
                <a:solidFill>
                  <a:srgbClr val="8C897F"/>
                </a:solidFill>
                <a:latin typeface="IBM Plex Mono" pitchFamily="49" charset="0"/>
                <a:ea typeface="IBM Plex Mono" pitchFamily="49" charset="-122"/>
                <a:cs typeface="IBM Plex Mono" pitchFamily="49" charset="-120"/>
              </a:rPr>
              <a:t>08 / 11</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D0F"/>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711200" y="609600"/>
            <a:ext cx="4970780" cy="238760"/>
          </a:xfrm>
          <a:prstGeom prst="rect">
            <a:avLst/>
          </a:prstGeom>
          <a:noFill/>
          <a:ln/>
        </p:spPr>
        <p:txBody>
          <a:bodyPr wrap="square" lIns="0" tIns="0" rIns="0" bIns="0" rtlCol="0" anchor="t">
            <a:normAutofit/>
          </a:bodyPr>
          <a:lstStyle/>
          <a:p>
            <a:pPr algn="l" indent="0" marL="0">
              <a:lnSpc>
                <a:spcPts val="1680"/>
              </a:lnSpc>
              <a:buNone/>
            </a:pPr>
            <a:r>
              <a:rPr lang="en-US" sz="1200" b="1" spc="240" kern="0" dirty="0">
                <a:solidFill>
                  <a:srgbClr val="FFB020"/>
                </a:solidFill>
                <a:latin typeface="Exo 2" pitchFamily="34" charset="0"/>
                <a:ea typeface="Exo 2" pitchFamily="34" charset="-122"/>
                <a:cs typeface="Exo 2" pitchFamily="34" charset="-120"/>
              </a:rPr>
              <a:t>ВЫЕЗДЫ ЗА ЛЕНТОЧКУ</a:t>
            </a:r>
            <a:endParaRPr lang="en-US" sz="1200" dirty="0"/>
          </a:p>
        </p:txBody>
      </p:sp>
      <p:sp>
        <p:nvSpPr>
          <p:cNvPr id="4" name="Shape 1"/>
          <p:cNvSpPr/>
          <p:nvPr/>
        </p:nvSpPr>
        <p:spPr>
          <a:xfrm>
            <a:off x="711200" y="949964"/>
            <a:ext cx="2184400" cy="1422400"/>
          </a:xfrm>
          <a:prstGeom prst="roundRect">
            <a:avLst>
              <a:gd name="adj" fmla="val 8036"/>
            </a:avLst>
          </a:prstGeom>
          <a:gradFill rotWithShape="1">
            <a:gsLst>
              <a:gs pos="0">
                <a:srgbClr val="4A4B50"/>
              </a:gs>
              <a:gs pos="100000">
                <a:srgbClr val="1D1E21"/>
              </a:gs>
            </a:gsLst>
            <a:lin ang="5400000" scaled="0"/>
          </a:gradFill>
          <a:ln/>
        </p:spPr>
      </p:sp>
      <p:sp>
        <p:nvSpPr>
          <p:cNvPr id="5" name="Text 2"/>
          <p:cNvSpPr/>
          <p:nvPr/>
        </p:nvSpPr>
        <p:spPr>
          <a:xfrm>
            <a:off x="787400" y="1026164"/>
            <a:ext cx="952500" cy="1270000"/>
          </a:xfrm>
          <a:prstGeom prst="roundRect">
            <a:avLst>
              <a:gd name="adj" fmla="val 6667"/>
            </a:avLst>
          </a:pr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8500"/>
              </a:lnSpc>
              <a:buNone/>
            </a:pPr>
            <a:r>
              <a:rPr lang="en-US" sz="8500" dirty="0">
                <a:solidFill>
                  <a:srgbClr val="F2EDE1"/>
                </a:solidFill>
                <a:latin typeface="Russo One" pitchFamily="34" charset="0"/>
                <a:ea typeface="Russo One" pitchFamily="34" charset="-122"/>
                <a:cs typeface="Russo One" pitchFamily="34" charset="-120"/>
              </a:rPr>
              <a:t>4</a:t>
            </a:r>
            <a:endParaRPr lang="en-US" sz="8500" dirty="0"/>
          </a:p>
        </p:txBody>
      </p:sp>
      <p:sp>
        <p:nvSpPr>
          <p:cNvPr id="6" name="Text 3"/>
          <p:cNvSpPr/>
          <p:nvPr/>
        </p:nvSpPr>
        <p:spPr>
          <a:xfrm>
            <a:off x="1790700" y="1026164"/>
            <a:ext cx="952500" cy="1270000"/>
          </a:xfrm>
          <a:prstGeom prst="roundRect">
            <a:avLst>
              <a:gd name="adj" fmla="val 6667"/>
            </a:avLst>
          </a:prstGeom>
          <a:gradFill rotWithShape="1">
            <a:gsLst>
              <a:gs pos="0">
                <a:srgbClr val="2A2B30"/>
              </a:gs>
              <a:gs pos="40000">
                <a:srgbClr val="050506"/>
              </a:gs>
              <a:gs pos="60000">
                <a:srgbClr val="050506"/>
              </a:gs>
              <a:gs pos="100000">
                <a:srgbClr val="2A2B30"/>
              </a:gs>
            </a:gsLst>
            <a:lin ang="5400000" scaled="0"/>
          </a:gradFill>
          <a:ln/>
        </p:spPr>
        <p:txBody>
          <a:bodyPr wrap="square" lIns="0" tIns="0" rIns="0" bIns="0" rtlCol="0" anchor="ctr">
            <a:normAutofit/>
          </a:bodyPr>
          <a:lstStyle/>
          <a:p>
            <a:pPr algn="ctr" indent="0" marL="0">
              <a:lnSpc>
                <a:spcPts val="8500"/>
              </a:lnSpc>
              <a:buNone/>
            </a:pPr>
            <a:r>
              <a:rPr lang="en-US" sz="8500" dirty="0">
                <a:solidFill>
                  <a:srgbClr val="F2EDE1"/>
                </a:solidFill>
                <a:latin typeface="Russo One" pitchFamily="34" charset="0"/>
                <a:ea typeface="Russo One" pitchFamily="34" charset="-122"/>
                <a:cs typeface="Russo One" pitchFamily="34" charset="-120"/>
              </a:rPr>
              <a:t>3</a:t>
            </a:r>
            <a:endParaRPr lang="en-US" sz="8500" dirty="0"/>
          </a:p>
        </p:txBody>
      </p:sp>
      <p:sp>
        <p:nvSpPr>
          <p:cNvPr id="7" name="Text 4"/>
          <p:cNvSpPr/>
          <p:nvPr>
            <p:ph type="title"/>
          </p:nvPr>
        </p:nvSpPr>
        <p:spPr>
          <a:xfrm>
            <a:off x="711200" y="2499364"/>
            <a:ext cx="4970780" cy="444500"/>
          </a:xfrm>
          <a:prstGeom prst="rect">
            <a:avLst/>
          </a:prstGeom>
          <a:noFill/>
          <a:ln/>
        </p:spPr>
        <p:txBody>
          <a:bodyPr wrap="square" lIns="0" tIns="0" rIns="0" bIns="0" rtlCol="0" anchor="t">
            <a:normAutofit/>
          </a:bodyPr>
          <a:lstStyle/>
          <a:p>
            <a:pPr algn="l" indent="0" marL="0">
              <a:lnSpc>
                <a:spcPts val="3300"/>
              </a:lnSpc>
              <a:buNone/>
            </a:pPr>
            <a:r>
              <a:rPr lang="en-US" sz="3000" b="0" i="0" dirty="0">
                <a:solidFill>
                  <a:srgbClr val="F2EDE1"/>
                </a:solidFill>
                <a:latin typeface="Russo One" pitchFamily="34" charset="0"/>
                <a:ea typeface="Russo One" pitchFamily="34" charset="-122"/>
                <a:cs typeface="Russo One" pitchFamily="34" charset="-120"/>
              </a:rPr>
              <a:t>поездки на фронт</a:t>
            </a:r>
            <a:endParaRPr lang="en-US" sz="3000" dirty="0"/>
          </a:p>
        </p:txBody>
      </p:sp>
      <p:sp>
        <p:nvSpPr>
          <p:cNvPr id="8" name="Text 5"/>
          <p:cNvSpPr/>
          <p:nvPr/>
        </p:nvSpPr>
        <p:spPr>
          <a:xfrm>
            <a:off x="711200" y="3045464"/>
            <a:ext cx="4970780" cy="327025"/>
          </a:xfrm>
          <a:prstGeom prst="rect">
            <a:avLst/>
          </a:prstGeom>
          <a:noFill/>
          <a:ln/>
        </p:spPr>
        <p:txBody>
          <a:bodyPr wrap="square" lIns="0" tIns="0" rIns="0" bIns="0" rtlCol="0" anchor="t">
            <a:normAutofit/>
          </a:bodyPr>
          <a:lstStyle/>
          <a:p>
            <a:pPr algn="l" indent="0" marL="0">
              <a:lnSpc>
                <a:spcPts val="2375"/>
              </a:lnSpc>
              <a:buNone/>
            </a:pPr>
            <a:r>
              <a:rPr lang="en-US" sz="1900" b="1" dirty="0">
                <a:solidFill>
                  <a:srgbClr val="FFB020"/>
                </a:solidFill>
                <a:latin typeface="Exo 2" pitchFamily="34" charset="0"/>
                <a:ea typeface="Exo 2" pitchFamily="34" charset="-122"/>
                <a:cs typeface="Exo 2" pitchFamily="34" charset="-120"/>
              </a:rPr>
              <a:t>Когда «надо» важнее любого риска.</a:t>
            </a:r>
            <a:endParaRPr lang="en-US" sz="1900" dirty="0"/>
          </a:p>
        </p:txBody>
      </p:sp>
      <p:pic>
        <p:nvPicPr>
          <p:cNvPr id="9" name="Image 1" descr="Александр Чикин с бойцами на фронтовой дороге">    </p:cNvPr>
          <p:cNvPicPr>
            <a:picLocks noChangeAspect="1"/>
          </p:cNvPicPr>
          <p:nvPr/>
        </p:nvPicPr>
        <p:blipFill>
          <a:blip r:embed="rId2"/>
          <a:srcRect l="0" r="0" t="237" b="237"/>
          <a:stretch/>
        </p:blipFill>
        <p:spPr>
          <a:xfrm>
            <a:off x="5981700" y="622300"/>
            <a:ext cx="5486400" cy="2768600"/>
          </a:xfrm>
          <a:prstGeom prst="roundRect">
            <a:avLst>
              <a:gd name="adj" fmla="val 917"/>
            </a:avLst>
          </a:prstGeom>
        </p:spPr>
      </p:pic>
      <p:sp>
        <p:nvSpPr>
          <p:cNvPr id="10" name="Shape 6"/>
          <p:cNvSpPr/>
          <p:nvPr/>
        </p:nvSpPr>
        <p:spPr>
          <a:xfrm>
            <a:off x="5975350" y="615950"/>
            <a:ext cx="5499100" cy="2781300"/>
          </a:xfrm>
          <a:prstGeom prst="roundRect">
            <a:avLst>
              <a:gd name="adj" fmla="val 1142"/>
            </a:avLst>
          </a:prstGeom>
          <a:noFill/>
          <a:ln w="12700">
            <a:solidFill>
              <a:srgbClr val="FFB020"/>
            </a:solidFill>
            <a:prstDash val="solid"/>
          </a:ln>
        </p:spPr>
      </p:sp>
      <p:sp>
        <p:nvSpPr>
          <p:cNvPr id="11" name="Shape 7"/>
          <p:cNvSpPr/>
          <p:nvPr/>
        </p:nvSpPr>
        <p:spPr>
          <a:xfrm>
            <a:off x="717550" y="3765550"/>
            <a:ext cx="3473450" cy="2225675"/>
          </a:xfrm>
          <a:prstGeom prst="roundRect">
            <a:avLst>
              <a:gd name="adj" fmla="val 4280"/>
            </a:avLst>
          </a:prstGeom>
          <a:solidFill>
            <a:srgbClr val="131417"/>
          </a:solidFill>
          <a:ln w="12700">
            <a:solidFill>
              <a:srgbClr val="2A2B30"/>
            </a:solidFill>
            <a:prstDash val="solid"/>
          </a:ln>
        </p:spPr>
      </p:sp>
      <p:sp>
        <p:nvSpPr>
          <p:cNvPr id="12" name="Text 8"/>
          <p:cNvSpPr/>
          <p:nvPr/>
        </p:nvSpPr>
        <p:spPr>
          <a:xfrm>
            <a:off x="899160" y="3947164"/>
            <a:ext cx="3203537" cy="23876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FFB020"/>
                </a:solidFill>
                <a:latin typeface="IBM Plex Mono" pitchFamily="49" charset="0"/>
                <a:ea typeface="IBM Plex Mono" pitchFamily="49" charset="-122"/>
                <a:cs typeface="IBM Plex Mono" pitchFamily="49" charset="-120"/>
              </a:rPr>
              <a:t>РАБОТЫ — НЕПОЧАТЫЙ КРАЙ</a:t>
            </a:r>
            <a:endParaRPr lang="en-US" sz="1200" dirty="0"/>
          </a:p>
        </p:txBody>
      </p:sp>
      <p:sp>
        <p:nvSpPr>
          <p:cNvPr id="13" name="Text 9"/>
          <p:cNvSpPr/>
          <p:nvPr/>
        </p:nvSpPr>
        <p:spPr>
          <a:xfrm>
            <a:off x="899160" y="4249421"/>
            <a:ext cx="3203537" cy="91694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6E0D2"/>
                </a:solidFill>
                <a:latin typeface="Exo 2" pitchFamily="34" charset="0"/>
                <a:ea typeface="Exo 2" pitchFamily="34" charset="-122"/>
                <a:cs typeface="Exo 2" pitchFamily="34" charset="-120"/>
              </a:rPr>
              <a:t>У Александра Чикина работы — непочатый край. Он работает на основной работе и там же ремонтирует транспорт для фронта.</a:t>
            </a:r>
            <a:endParaRPr lang="en-US" sz="1300" dirty="0"/>
          </a:p>
        </p:txBody>
      </p:sp>
      <p:sp>
        <p:nvSpPr>
          <p:cNvPr id="14" name="Shape 10"/>
          <p:cNvSpPr/>
          <p:nvPr/>
        </p:nvSpPr>
        <p:spPr>
          <a:xfrm>
            <a:off x="4356100" y="3765550"/>
            <a:ext cx="3473450" cy="2225675"/>
          </a:xfrm>
          <a:prstGeom prst="roundRect">
            <a:avLst>
              <a:gd name="adj" fmla="val 4280"/>
            </a:avLst>
          </a:prstGeom>
          <a:solidFill>
            <a:srgbClr val="131417"/>
          </a:solidFill>
          <a:ln w="12700">
            <a:solidFill>
              <a:srgbClr val="2A2B30"/>
            </a:solidFill>
            <a:prstDash val="solid"/>
          </a:ln>
        </p:spPr>
      </p:sp>
      <p:sp>
        <p:nvSpPr>
          <p:cNvPr id="15" name="Text 11"/>
          <p:cNvSpPr/>
          <p:nvPr/>
        </p:nvSpPr>
        <p:spPr>
          <a:xfrm>
            <a:off x="4537710" y="3947164"/>
            <a:ext cx="3203537" cy="23876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FFB020"/>
                </a:solidFill>
                <a:latin typeface="IBM Plex Mono" pitchFamily="49" charset="0"/>
                <a:ea typeface="IBM Plex Mono" pitchFamily="49" charset="-122"/>
                <a:cs typeface="IBM Plex Mono" pitchFamily="49" charset="-120"/>
              </a:rPr>
              <a:t>САМАЯ ОПАСНАЯ МИССИЯ</a:t>
            </a:r>
            <a:endParaRPr lang="en-US" sz="1200" dirty="0"/>
          </a:p>
        </p:txBody>
      </p:sp>
      <p:sp>
        <p:nvSpPr>
          <p:cNvPr id="16" name="Text 12"/>
          <p:cNvSpPr/>
          <p:nvPr/>
        </p:nvSpPr>
        <p:spPr>
          <a:xfrm>
            <a:off x="4537710" y="4249421"/>
            <a:ext cx="3203537" cy="158559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6E0D2"/>
                </a:solidFill>
                <a:latin typeface="Exo 2" pitchFamily="34" charset="0"/>
                <a:ea typeface="Exo 2" pitchFamily="34" charset="-122"/>
                <a:cs typeface="Exo 2" pitchFamily="34" charset="-120"/>
              </a:rPr>
              <a:t>Но самая опасная и почётная миссия — доставка. 43 поездки в зону боевых действий. Он знает в лицо каждого нашего бойца, они для него — родные братья. Он не понаслышке знает, как парни живут и воюют, поэтому у него так болит за них душа.</a:t>
            </a:r>
            <a:endParaRPr lang="en-US" sz="1300" dirty="0"/>
          </a:p>
        </p:txBody>
      </p:sp>
      <p:sp>
        <p:nvSpPr>
          <p:cNvPr id="17" name="Shape 13"/>
          <p:cNvSpPr/>
          <p:nvPr/>
        </p:nvSpPr>
        <p:spPr>
          <a:xfrm>
            <a:off x="7994650" y="3765550"/>
            <a:ext cx="3479800" cy="2225675"/>
          </a:xfrm>
          <a:prstGeom prst="roundRect">
            <a:avLst>
              <a:gd name="adj" fmla="val 4280"/>
            </a:avLst>
          </a:prstGeom>
          <a:solidFill>
            <a:srgbClr val="131417"/>
          </a:solidFill>
          <a:ln w="12700">
            <a:solidFill>
              <a:srgbClr val="2A2B30"/>
            </a:solidFill>
            <a:prstDash val="solid"/>
          </a:ln>
        </p:spPr>
      </p:sp>
      <p:sp>
        <p:nvSpPr>
          <p:cNvPr id="18" name="Text 14"/>
          <p:cNvSpPr/>
          <p:nvPr/>
        </p:nvSpPr>
        <p:spPr>
          <a:xfrm>
            <a:off x="8176260" y="3947164"/>
            <a:ext cx="3210078" cy="23876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FFB020"/>
                </a:solidFill>
                <a:latin typeface="IBM Plex Mono" pitchFamily="49" charset="0"/>
                <a:ea typeface="IBM Plex Mono" pitchFamily="49" charset="-122"/>
                <a:cs typeface="IBM Plex Mono" pitchFamily="49" charset="-120"/>
              </a:rPr>
              <a:t>ФРОНТОВЫЕ ДОРОГИ</a:t>
            </a:r>
            <a:endParaRPr lang="en-US" sz="1200" dirty="0"/>
          </a:p>
        </p:txBody>
      </p:sp>
      <p:sp>
        <p:nvSpPr>
          <p:cNvPr id="19" name="Text 15"/>
          <p:cNvSpPr/>
          <p:nvPr/>
        </p:nvSpPr>
        <p:spPr>
          <a:xfrm>
            <a:off x="8176260" y="4249421"/>
            <a:ext cx="3210078" cy="158559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6E0D2"/>
                </a:solidFill>
                <a:latin typeface="Exo 2" pitchFamily="34" charset="0"/>
                <a:ea typeface="Exo 2" pitchFamily="34" charset="-122"/>
                <a:cs typeface="Exo 2" pitchFamily="34" charset="-120"/>
              </a:rPr>
              <a:t>Фронтовые дороги непредсказуемы: дроны, погода, поломки. Когда помощь нужна срочно, Александр не думает — он просто едет. Часто один. Когда везёт на фронт машину, цепляет к своей на прицеп. Это большой риск и настоящий героизм.</a:t>
            </a:r>
            <a:endParaRPr lang="en-US" sz="1300" dirty="0"/>
          </a:p>
        </p:txBody>
      </p:sp>
      <p:sp>
        <p:nvSpPr>
          <p:cNvPr id="20" name="Text 16"/>
          <p:cNvSpPr/>
          <p:nvPr/>
        </p:nvSpPr>
        <p:spPr>
          <a:xfrm>
            <a:off x="711200" y="6339842"/>
            <a:ext cx="7194550" cy="238760"/>
          </a:xfrm>
          <a:prstGeom prst="rect">
            <a:avLst/>
          </a:prstGeom>
          <a:noFill/>
          <a:ln/>
        </p:spPr>
        <p:txBody>
          <a:bodyPr wrap="none" lIns="0" tIns="0" rIns="0" bIns="0" rtlCol="0" anchor="t">
            <a:normAutofit/>
          </a:bodyPr>
          <a:lstStyle/>
          <a:p>
            <a:pPr algn="l" indent="0" marL="0">
              <a:lnSpc>
                <a:spcPts val="1680"/>
              </a:lnSpc>
              <a:buNone/>
            </a:pPr>
            <a:r>
              <a:rPr lang="en-US" sz="1200" spc="120" kern="0" dirty="0">
                <a:solidFill>
                  <a:srgbClr val="8C897F"/>
                </a:solidFill>
                <a:latin typeface="IBM Plex Mono" pitchFamily="49" charset="0"/>
                <a:ea typeface="IBM Plex Mono" pitchFamily="49" charset="-122"/>
                <a:cs typeface="IBM Plex Mono" pitchFamily="49" charset="-120"/>
              </a:rPr>
              <a:t>XXIX АКЦИЯ «БЛАГОРОДСТВО» · АЛЕКСАНДР ЧИКИН</a:t>
            </a:r>
            <a:endParaRPr lang="en-US" sz="1200" dirty="0"/>
          </a:p>
        </p:txBody>
      </p:sp>
      <p:sp>
        <p:nvSpPr>
          <p:cNvPr id="21" name="Text 17"/>
          <p:cNvSpPr/>
          <p:nvPr/>
        </p:nvSpPr>
        <p:spPr>
          <a:xfrm>
            <a:off x="10160000" y="63398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spc="120" kern="0" dirty="0">
                <a:solidFill>
                  <a:srgbClr val="8C897F"/>
                </a:solidFill>
                <a:latin typeface="IBM Plex Mono" pitchFamily="49" charset="0"/>
                <a:ea typeface="IBM Plex Mono" pitchFamily="49" charset="-122"/>
                <a:cs typeface="IBM Plex Mono" pitchFamily="49" charset="-120"/>
              </a:rPr>
              <a:t>09 / 11</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D0F"/>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711200" y="609600"/>
            <a:ext cx="11092688" cy="238760"/>
          </a:xfrm>
          <a:prstGeom prst="rect">
            <a:avLst/>
          </a:prstGeom>
          <a:noFill/>
          <a:ln/>
        </p:spPr>
        <p:txBody>
          <a:bodyPr wrap="square" lIns="0" tIns="0" rIns="0" bIns="0" rtlCol="0" anchor="t">
            <a:normAutofit/>
          </a:bodyPr>
          <a:lstStyle/>
          <a:p>
            <a:pPr algn="l" indent="0" marL="0">
              <a:lnSpc>
                <a:spcPts val="1680"/>
              </a:lnSpc>
              <a:buNone/>
            </a:pPr>
            <a:r>
              <a:rPr lang="en-US" sz="1200" b="1" spc="240" kern="0" dirty="0">
                <a:solidFill>
                  <a:srgbClr val="FFB020"/>
                </a:solidFill>
                <a:latin typeface="Exo 2" pitchFamily="34" charset="0"/>
                <a:ea typeface="Exo 2" pitchFamily="34" charset="-122"/>
                <a:cs typeface="Exo 2" pitchFamily="34" charset="-120"/>
              </a:rPr>
              <a:t>ФРОНТОВЫЕ ДОРОГИ</a:t>
            </a:r>
            <a:endParaRPr lang="en-US" sz="1200" dirty="0"/>
          </a:p>
        </p:txBody>
      </p:sp>
      <p:sp>
        <p:nvSpPr>
          <p:cNvPr id="4" name="Text 1"/>
          <p:cNvSpPr/>
          <p:nvPr>
            <p:ph type="title"/>
          </p:nvPr>
        </p:nvSpPr>
        <p:spPr>
          <a:xfrm>
            <a:off x="711200" y="911864"/>
            <a:ext cx="11092688" cy="556260"/>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F2EDE1"/>
                </a:solidFill>
                <a:latin typeface="Russo One" pitchFamily="34" charset="0"/>
                <a:ea typeface="Russo One" pitchFamily="34" charset="-122"/>
                <a:cs typeface="Russo One" pitchFamily="34" charset="-120"/>
              </a:rPr>
              <a:t>Большая работа — большая душа</a:t>
            </a:r>
            <a:endParaRPr lang="en-US" sz="3800" dirty="0"/>
          </a:p>
        </p:txBody>
      </p:sp>
      <p:pic>
        <p:nvPicPr>
          <p:cNvPr id="5" name="Image 1" descr="Александр Чикин у монумента на холме">    </p:cNvPr>
          <p:cNvPicPr>
            <a:picLocks noChangeAspect="1"/>
          </p:cNvPicPr>
          <p:nvPr/>
        </p:nvPicPr>
        <p:blipFill>
          <a:blip r:embed="rId2"/>
          <a:srcRect l="198" r="198" t="0" b="0"/>
          <a:stretch/>
        </p:blipFill>
        <p:spPr>
          <a:xfrm>
            <a:off x="723900" y="1600200"/>
            <a:ext cx="2597150" cy="4635500"/>
          </a:xfrm>
          <a:prstGeom prst="roundRect">
            <a:avLst>
              <a:gd name="adj" fmla="val 978"/>
            </a:avLst>
          </a:prstGeom>
        </p:spPr>
      </p:pic>
      <p:sp>
        <p:nvSpPr>
          <p:cNvPr id="6" name="Shape 2"/>
          <p:cNvSpPr/>
          <p:nvPr/>
        </p:nvSpPr>
        <p:spPr>
          <a:xfrm>
            <a:off x="717550" y="1593850"/>
            <a:ext cx="2609850" cy="4648200"/>
          </a:xfrm>
          <a:prstGeom prst="roundRect">
            <a:avLst>
              <a:gd name="adj" fmla="val 1217"/>
            </a:avLst>
          </a:prstGeom>
          <a:noFill/>
          <a:ln w="12700">
            <a:solidFill>
              <a:srgbClr val="FFB020"/>
            </a:solidFill>
            <a:prstDash val="solid"/>
          </a:ln>
        </p:spPr>
      </p:sp>
      <p:pic>
        <p:nvPicPr>
          <p:cNvPr id="7" name="Image 2" descr="Александр Чикин за рулём УАЗа">    </p:cNvPr>
          <p:cNvPicPr>
            <a:picLocks noChangeAspect="1"/>
          </p:cNvPicPr>
          <p:nvPr/>
        </p:nvPicPr>
        <p:blipFill>
          <a:blip r:embed="rId3"/>
          <a:srcRect l="80" r="80" t="0" b="0"/>
          <a:stretch/>
        </p:blipFill>
        <p:spPr>
          <a:xfrm>
            <a:off x="3498850" y="1600200"/>
            <a:ext cx="3797300" cy="4635500"/>
          </a:xfrm>
          <a:prstGeom prst="roundRect">
            <a:avLst>
              <a:gd name="adj" fmla="val 669"/>
            </a:avLst>
          </a:prstGeom>
        </p:spPr>
      </p:pic>
      <p:sp>
        <p:nvSpPr>
          <p:cNvPr id="8" name="Shape 3"/>
          <p:cNvSpPr/>
          <p:nvPr/>
        </p:nvSpPr>
        <p:spPr>
          <a:xfrm>
            <a:off x="3492500" y="1593850"/>
            <a:ext cx="3810000" cy="4648200"/>
          </a:xfrm>
          <a:prstGeom prst="roundRect">
            <a:avLst>
              <a:gd name="adj" fmla="val 833"/>
            </a:avLst>
          </a:prstGeom>
          <a:noFill/>
          <a:ln w="12700">
            <a:solidFill>
              <a:srgbClr val="FFB020"/>
            </a:solidFill>
            <a:prstDash val="solid"/>
          </a:ln>
        </p:spPr>
      </p:sp>
      <p:pic>
        <p:nvPicPr>
          <p:cNvPr id="9" name="Image 3" descr="Волонтёры у собранной гуманитарной помощи в штабе">    </p:cNvPr>
          <p:cNvPicPr>
            <a:picLocks noChangeAspect="1"/>
          </p:cNvPicPr>
          <p:nvPr/>
        </p:nvPicPr>
        <p:blipFill>
          <a:blip r:embed="rId4"/>
          <a:srcRect l="29" r="29" t="0" b="0"/>
          <a:stretch/>
        </p:blipFill>
        <p:spPr>
          <a:xfrm>
            <a:off x="7473950" y="1600200"/>
            <a:ext cx="3994150" cy="4635500"/>
          </a:xfrm>
          <a:prstGeom prst="roundRect">
            <a:avLst>
              <a:gd name="adj" fmla="val 636"/>
            </a:avLst>
          </a:prstGeom>
        </p:spPr>
      </p:pic>
      <p:sp>
        <p:nvSpPr>
          <p:cNvPr id="10" name="Shape 4"/>
          <p:cNvSpPr/>
          <p:nvPr/>
        </p:nvSpPr>
        <p:spPr>
          <a:xfrm>
            <a:off x="7467600" y="1593850"/>
            <a:ext cx="4006850" cy="4648200"/>
          </a:xfrm>
          <a:prstGeom prst="roundRect">
            <a:avLst>
              <a:gd name="adj" fmla="val 792"/>
            </a:avLst>
          </a:prstGeom>
          <a:noFill/>
          <a:ln w="12700">
            <a:solidFill>
              <a:srgbClr val="FFB020"/>
            </a:solidFill>
            <a:prstDash val="solid"/>
          </a:ln>
        </p:spPr>
      </p:sp>
      <p:sp>
        <p:nvSpPr>
          <p:cNvPr id="11" name="Text 5"/>
          <p:cNvSpPr/>
          <p:nvPr/>
        </p:nvSpPr>
        <p:spPr>
          <a:xfrm>
            <a:off x="711200" y="6339842"/>
            <a:ext cx="7194550" cy="238760"/>
          </a:xfrm>
          <a:prstGeom prst="rect">
            <a:avLst/>
          </a:prstGeom>
          <a:noFill/>
          <a:ln/>
        </p:spPr>
        <p:txBody>
          <a:bodyPr wrap="none" lIns="0" tIns="0" rIns="0" bIns="0" rtlCol="0" anchor="t">
            <a:normAutofit/>
          </a:bodyPr>
          <a:lstStyle/>
          <a:p>
            <a:pPr algn="l" indent="0" marL="0">
              <a:lnSpc>
                <a:spcPts val="1680"/>
              </a:lnSpc>
              <a:buNone/>
            </a:pPr>
            <a:r>
              <a:rPr lang="en-US" sz="1200" spc="120" kern="0" dirty="0">
                <a:solidFill>
                  <a:srgbClr val="8C897F"/>
                </a:solidFill>
                <a:latin typeface="IBM Plex Mono" pitchFamily="49" charset="0"/>
                <a:ea typeface="IBM Plex Mono" pitchFamily="49" charset="-122"/>
                <a:cs typeface="IBM Plex Mono" pitchFamily="49" charset="-120"/>
              </a:rPr>
              <a:t>XXIX АКЦИЯ «БЛАГОРОДСТВО» · АЛЕКСАНДР ЧИКИН</a:t>
            </a:r>
            <a:endParaRPr lang="en-US" sz="1200" dirty="0"/>
          </a:p>
        </p:txBody>
      </p:sp>
      <p:sp>
        <p:nvSpPr>
          <p:cNvPr id="12" name="Text 6"/>
          <p:cNvSpPr/>
          <p:nvPr/>
        </p:nvSpPr>
        <p:spPr>
          <a:xfrm>
            <a:off x="10160000" y="63398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spc="120" kern="0" dirty="0">
                <a:solidFill>
                  <a:srgbClr val="8C897F"/>
                </a:solidFill>
                <a:latin typeface="IBM Plex Mono" pitchFamily="49" charset="0"/>
                <a:ea typeface="IBM Plex Mono" pitchFamily="49" charset="-122"/>
                <a:cs typeface="IBM Plex Mono" pitchFamily="49" charset="-120"/>
              </a:rPr>
              <a:t>10 / 11</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D0F"/>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711200" y="609600"/>
            <a:ext cx="11092688" cy="238760"/>
          </a:xfrm>
          <a:prstGeom prst="rect">
            <a:avLst/>
          </a:prstGeom>
          <a:noFill/>
          <a:ln/>
        </p:spPr>
        <p:txBody>
          <a:bodyPr wrap="square" lIns="0" tIns="0" rIns="0" bIns="0" rtlCol="0" anchor="t">
            <a:normAutofit/>
          </a:bodyPr>
          <a:lstStyle/>
          <a:p>
            <a:pPr algn="l" indent="0" marL="0">
              <a:lnSpc>
                <a:spcPts val="1680"/>
              </a:lnSpc>
              <a:buNone/>
            </a:pPr>
            <a:r>
              <a:rPr lang="en-US" sz="1200" b="1" spc="240" kern="0" dirty="0">
                <a:solidFill>
                  <a:srgbClr val="FFB020"/>
                </a:solidFill>
                <a:latin typeface="Exo 2" pitchFamily="34" charset="0"/>
                <a:ea typeface="Exo 2" pitchFamily="34" charset="-122"/>
                <a:cs typeface="Exo 2" pitchFamily="34" charset="-120"/>
              </a:rPr>
              <a:t>XXIX ОБЛАСТНАЯ ОБЩЕСТВЕННАЯ АКЦИЯ «БЛАГОРОДСТВО»</a:t>
            </a:r>
            <a:endParaRPr lang="en-US" sz="1200" dirty="0"/>
          </a:p>
        </p:txBody>
      </p:sp>
      <p:sp>
        <p:nvSpPr>
          <p:cNvPr id="4" name="Text 1"/>
          <p:cNvSpPr/>
          <p:nvPr>
            <p:ph type="title"/>
          </p:nvPr>
        </p:nvSpPr>
        <p:spPr>
          <a:xfrm>
            <a:off x="711200" y="911864"/>
            <a:ext cx="11092688" cy="556260"/>
          </a:xfrm>
          <a:prstGeom prst="rect">
            <a:avLst/>
          </a:prstGeom>
          <a:noFill/>
          <a:ln/>
        </p:spPr>
        <p:txBody>
          <a:bodyPr wrap="square" lIns="0" tIns="0" rIns="0" bIns="0" rtlCol="0" anchor="t">
            <a:normAutofit/>
          </a:bodyPr>
          <a:lstStyle/>
          <a:p>
            <a:pPr algn="l" indent="0" marL="0">
              <a:lnSpc>
                <a:spcPts val="4180"/>
              </a:lnSpc>
              <a:buNone/>
            </a:pPr>
            <a:r>
              <a:rPr lang="en-US" sz="3800" b="0" i="0" dirty="0">
                <a:solidFill>
                  <a:srgbClr val="F2EDE1"/>
                </a:solidFill>
                <a:latin typeface="Russo One" pitchFamily="34" charset="0"/>
                <a:ea typeface="Russo One" pitchFamily="34" charset="-122"/>
                <a:cs typeface="Russo One" pitchFamily="34" charset="-120"/>
              </a:rPr>
              <a:t>Сильные духом. Плечом к плечу.</a:t>
            </a:r>
            <a:endParaRPr lang="en-US" sz="3800" dirty="0"/>
          </a:p>
        </p:txBody>
      </p:sp>
      <p:pic>
        <p:nvPicPr>
          <p:cNvPr id="5" name="Image 1" descr="Александр Чикин с бойцами">    </p:cNvPr>
          <p:cNvPicPr>
            <a:picLocks noChangeAspect="1"/>
          </p:cNvPicPr>
          <p:nvPr/>
        </p:nvPicPr>
        <p:blipFill>
          <a:blip r:embed="rId2"/>
          <a:srcRect l="220" r="220" t="0" b="0"/>
          <a:stretch/>
        </p:blipFill>
        <p:spPr>
          <a:xfrm>
            <a:off x="723900" y="1600200"/>
            <a:ext cx="2597150" cy="4635500"/>
          </a:xfrm>
          <a:prstGeom prst="roundRect">
            <a:avLst>
              <a:gd name="adj" fmla="val 978"/>
            </a:avLst>
          </a:prstGeom>
        </p:spPr>
      </p:pic>
      <p:sp>
        <p:nvSpPr>
          <p:cNvPr id="6" name="Shape 2"/>
          <p:cNvSpPr/>
          <p:nvPr/>
        </p:nvSpPr>
        <p:spPr>
          <a:xfrm>
            <a:off x="717550" y="1593850"/>
            <a:ext cx="2609850" cy="4648200"/>
          </a:xfrm>
          <a:prstGeom prst="roundRect">
            <a:avLst>
              <a:gd name="adj" fmla="val 1217"/>
            </a:avLst>
          </a:prstGeom>
          <a:noFill/>
          <a:ln w="12700">
            <a:solidFill>
              <a:srgbClr val="FFB020"/>
            </a:solidFill>
            <a:prstDash val="solid"/>
          </a:ln>
        </p:spPr>
      </p:sp>
      <p:pic>
        <p:nvPicPr>
          <p:cNvPr id="7" name="Image 2" descr="Бойцы и волонтёры у грузовика с гуманитарной помощью">    </p:cNvPr>
          <p:cNvPicPr>
            <a:picLocks noChangeAspect="1"/>
          </p:cNvPicPr>
          <p:nvPr/>
        </p:nvPicPr>
        <p:blipFill>
          <a:blip r:embed="rId3"/>
          <a:srcRect l="0" r="0" t="62" b="62"/>
          <a:stretch/>
        </p:blipFill>
        <p:spPr>
          <a:xfrm>
            <a:off x="3498850" y="1600200"/>
            <a:ext cx="5429250" cy="4635500"/>
          </a:xfrm>
          <a:prstGeom prst="roundRect">
            <a:avLst>
              <a:gd name="adj" fmla="val 548"/>
            </a:avLst>
          </a:prstGeom>
        </p:spPr>
      </p:pic>
      <p:sp>
        <p:nvSpPr>
          <p:cNvPr id="8" name="Shape 3"/>
          <p:cNvSpPr/>
          <p:nvPr/>
        </p:nvSpPr>
        <p:spPr>
          <a:xfrm>
            <a:off x="3492500" y="1593850"/>
            <a:ext cx="5441950" cy="4648200"/>
          </a:xfrm>
          <a:prstGeom prst="roundRect">
            <a:avLst>
              <a:gd name="adj" fmla="val 683"/>
            </a:avLst>
          </a:prstGeom>
          <a:noFill/>
          <a:ln w="12700">
            <a:solidFill>
              <a:srgbClr val="FFB020"/>
            </a:solidFill>
            <a:prstDash val="solid"/>
          </a:ln>
        </p:spPr>
      </p:sp>
      <p:pic>
        <p:nvPicPr>
          <p:cNvPr id="9" name="Image 3" descr="Александр Чикин с бойцом на фронте">    </p:cNvPr>
          <p:cNvPicPr>
            <a:picLocks noChangeAspect="1"/>
          </p:cNvPicPr>
          <p:nvPr/>
        </p:nvPicPr>
        <p:blipFill>
          <a:blip r:embed="rId4"/>
          <a:srcRect l="280" r="280" t="0" b="0"/>
          <a:stretch/>
        </p:blipFill>
        <p:spPr>
          <a:xfrm>
            <a:off x="9105900" y="1600200"/>
            <a:ext cx="2362200" cy="4635500"/>
          </a:xfrm>
          <a:prstGeom prst="roundRect">
            <a:avLst>
              <a:gd name="adj" fmla="val 1075"/>
            </a:avLst>
          </a:prstGeom>
        </p:spPr>
      </p:pic>
      <p:sp>
        <p:nvSpPr>
          <p:cNvPr id="10" name="Shape 4"/>
          <p:cNvSpPr/>
          <p:nvPr/>
        </p:nvSpPr>
        <p:spPr>
          <a:xfrm>
            <a:off x="9099550" y="1593850"/>
            <a:ext cx="2374900" cy="4648200"/>
          </a:xfrm>
          <a:prstGeom prst="roundRect">
            <a:avLst>
              <a:gd name="adj" fmla="val 1337"/>
            </a:avLst>
          </a:prstGeom>
          <a:noFill/>
          <a:ln w="12700">
            <a:solidFill>
              <a:srgbClr val="FFB020"/>
            </a:solidFill>
            <a:prstDash val="solid"/>
          </a:ln>
        </p:spPr>
      </p:sp>
      <p:sp>
        <p:nvSpPr>
          <p:cNvPr id="11" name="Text 5"/>
          <p:cNvSpPr/>
          <p:nvPr/>
        </p:nvSpPr>
        <p:spPr>
          <a:xfrm>
            <a:off x="711200" y="6339842"/>
            <a:ext cx="7194550" cy="238760"/>
          </a:xfrm>
          <a:prstGeom prst="rect">
            <a:avLst/>
          </a:prstGeom>
          <a:noFill/>
          <a:ln/>
        </p:spPr>
        <p:txBody>
          <a:bodyPr wrap="none" lIns="0" tIns="0" rIns="0" bIns="0" rtlCol="0" anchor="t">
            <a:normAutofit/>
          </a:bodyPr>
          <a:lstStyle/>
          <a:p>
            <a:pPr algn="l" indent="0" marL="0">
              <a:lnSpc>
                <a:spcPts val="1680"/>
              </a:lnSpc>
              <a:buNone/>
            </a:pPr>
            <a:r>
              <a:rPr lang="en-US" sz="1200" spc="120" kern="0" dirty="0">
                <a:solidFill>
                  <a:srgbClr val="8C897F"/>
                </a:solidFill>
                <a:latin typeface="IBM Plex Mono" pitchFamily="49" charset="0"/>
                <a:ea typeface="IBM Plex Mono" pitchFamily="49" charset="-122"/>
                <a:cs typeface="IBM Plex Mono" pitchFamily="49" charset="-120"/>
              </a:rPr>
              <a:t>XXIX АКЦИЯ «БЛАГОРОДСТВО» · АЛЕКСАНДР ЧИКИН</a:t>
            </a:r>
            <a:endParaRPr lang="en-US" sz="1200" dirty="0"/>
          </a:p>
        </p:txBody>
      </p:sp>
      <p:sp>
        <p:nvSpPr>
          <p:cNvPr id="12" name="Text 6"/>
          <p:cNvSpPr/>
          <p:nvPr/>
        </p:nvSpPr>
        <p:spPr>
          <a:xfrm>
            <a:off x="10160000" y="63398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spc="120" kern="0" dirty="0">
                <a:solidFill>
                  <a:srgbClr val="8C897F"/>
                </a:solidFill>
                <a:latin typeface="IBM Plex Mono" pitchFamily="49" charset="0"/>
                <a:ea typeface="IBM Plex Mono" pitchFamily="49" charset="-122"/>
                <a:cs typeface="IBM Plex Mono" pitchFamily="49" charset="-120"/>
              </a:rPr>
              <a:t>11 / 11</a:t>
            </a:r>
            <a:endParaRPr lang="en-US" sz="1200" dirty="0"/>
          </a:p>
        </p:txBody>
      </p:sp>
    </p:spTree>
  </p:cSld>
  <p:clrMapOvr>
    <a:masterClrMapping/>
  </p:clrMapOvr>
</p:sld>
</file>

<file path=ppt/theme/theme1.xml><?xml version="1.0" encoding="utf-8"?>
<a:theme xmlns:a="http://schemas.openxmlformats.org/drawingml/2006/main" name="Александр Чикин — Благородство">
  <a:themeElements>
    <a:clrScheme name="Александр Чикин — Благородство">
      <a:dk1>
        <a:srgbClr val="0C0D0F"/>
      </a:dk1>
      <a:lt1>
        <a:srgbClr val="FAF9F5"/>
      </a:lt1>
      <a:dk2>
        <a:srgbClr val="242526"/>
      </a:dk2>
      <a:lt2>
        <a:srgbClr val="BFBEBC"/>
      </a:lt2>
      <a:accent1>
        <a:srgbClr val="FFB020"/>
      </a:accent1>
      <a:accent2>
        <a:srgbClr val="3A2900"/>
      </a:accent2>
      <a:accent3>
        <a:srgbClr val="2A2B30"/>
      </a:accent3>
      <a:accent4>
        <a:srgbClr val="E6E0D2"/>
      </a:accent4>
      <a:accent5>
        <a:srgbClr val="8C897F"/>
      </a:accent5>
      <a:accent6>
        <a:srgbClr val="4A4B50"/>
      </a:accent6>
      <a:hlink>
        <a:srgbClr val="0563C1"/>
      </a:hlink>
      <a:folHlink>
        <a:srgbClr val="954F72"/>
      </a:folHlink>
    </a:clrScheme>
    <a:fontScheme name="Александр Чикин — Благородство">
      <a:majorFont>
        <a:latin typeface="Russo On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Exo 2"/>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Александр Чикин — Благородство</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Exo 2
Copyright 2013 The Exo 2 Project Authors (https://github.com/googlefonts/Exo-2.0)
This Font Software is licensed under the SIL Open Font License, Version 1.1.
This license is copied below, and is also available with a FAQ at:
https://openfontlicense.org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2026-10-23T09:01:55Z</dcterms:created>
  <dcterms:modified xsi:type="dcterms:W3CDTF">2026-10-23T09:01:55Z</dcterms:modified>
</cp:coreProperties>
</file>